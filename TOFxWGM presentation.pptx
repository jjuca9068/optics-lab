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60" r:id="rId5"/>
    <p:sldId id="261" r:id="rId6"/>
    <p:sldId id="264" r:id="rId7"/>
    <p:sldId id="262" r:id="rId8"/>
    <p:sldId id="265" r:id="rId9"/>
    <p:sldId id="26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6C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1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19:59.3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20:00.1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24575,'0'0'-8191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23:45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23619,'1567'0'0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23:57.8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1691 24380,'1690'-1690'0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25:15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 24192,'2593'0'0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25:22.7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1415 24087,'1414'-1414'0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27:46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31 24503,'3389'0'0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7-31T03:27:51.7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1400 24088,'1115'-1399'0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6541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1224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4915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2.xml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" Type="http://schemas.openxmlformats.org/officeDocument/2006/relationships/tags" Target="../tags/tag3.xml"/><Relationship Id="rId21" Type="http://schemas.openxmlformats.org/officeDocument/2006/relationships/customXml" Target="../ink/ink6.xml"/><Relationship Id="rId7" Type="http://schemas.openxmlformats.org/officeDocument/2006/relationships/image" Target="../media/image6.jpg"/><Relationship Id="rId12" Type="http://schemas.openxmlformats.org/officeDocument/2006/relationships/image" Target="../media/image10.png"/><Relationship Id="rId17" Type="http://schemas.openxmlformats.org/officeDocument/2006/relationships/customXml" Target="../ink/ink4.xml"/><Relationship Id="rId25" Type="http://schemas.openxmlformats.org/officeDocument/2006/relationships/customXml" Target="../ink/ink8.xml"/><Relationship Id="rId2" Type="http://schemas.openxmlformats.org/officeDocument/2006/relationships/tags" Target="../tags/tag2.xml"/><Relationship Id="rId16" Type="http://schemas.openxmlformats.org/officeDocument/2006/relationships/image" Target="../media/image12.png"/><Relationship Id="rId20" Type="http://schemas.openxmlformats.org/officeDocument/2006/relationships/image" Target="../media/image14.png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2.xml"/><Relationship Id="rId11" Type="http://schemas.openxmlformats.org/officeDocument/2006/relationships/customXml" Target="../ink/ink1.xml"/><Relationship Id="rId24" Type="http://schemas.openxmlformats.org/officeDocument/2006/relationships/image" Target="../media/image16.png"/><Relationship Id="rId5" Type="http://schemas.openxmlformats.org/officeDocument/2006/relationships/tags" Target="../tags/tag5.xml"/><Relationship Id="rId15" Type="http://schemas.openxmlformats.org/officeDocument/2006/relationships/customXml" Target="../ink/ink3.xml"/><Relationship Id="rId23" Type="http://schemas.openxmlformats.org/officeDocument/2006/relationships/customXml" Target="../ink/ink7.xml"/><Relationship Id="rId28" Type="http://schemas.openxmlformats.org/officeDocument/2006/relationships/image" Target="../media/image19.png"/><Relationship Id="rId10" Type="http://schemas.openxmlformats.org/officeDocument/2006/relationships/image" Target="../media/image9.png"/><Relationship Id="rId19" Type="http://schemas.openxmlformats.org/officeDocument/2006/relationships/customXml" Target="../ink/ink5.xml"/><Relationship Id="rId4" Type="http://schemas.openxmlformats.org/officeDocument/2006/relationships/tags" Target="../tags/tag4.xml"/><Relationship Id="rId9" Type="http://schemas.openxmlformats.org/officeDocument/2006/relationships/image" Target="../media/image8.png"/><Relationship Id="rId14" Type="http://schemas.openxmlformats.org/officeDocument/2006/relationships/image" Target="../media/image11.png"/><Relationship Id="rId22" Type="http://schemas.openxmlformats.org/officeDocument/2006/relationships/image" Target="../media/image15.png"/><Relationship Id="rId27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25.png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image" Target="../media/image24.png"/><Relationship Id="rId5" Type="http://schemas.openxmlformats.org/officeDocument/2006/relationships/image" Target="../media/image23.jpg"/><Relationship Id="rId4" Type="http://schemas.openxmlformats.org/officeDocument/2006/relationships/image" Target="../media/image22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700F31-8249-2E2E-949C-C5B6EE40CD96}"/>
              </a:ext>
            </a:extLst>
          </p:cNvPr>
          <p:cNvSpPr txBox="1"/>
          <p:nvPr/>
        </p:nvSpPr>
        <p:spPr>
          <a:xfrm>
            <a:off x="1032387" y="580102"/>
            <a:ext cx="754265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Tapered Optical Fiber and Whispering-Gallery Mode Resonators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5BB39-C3F4-44FD-EA6D-F58A5B9D2A4D}"/>
              </a:ext>
            </a:extLst>
          </p:cNvPr>
          <p:cNvSpPr txBox="1"/>
          <p:nvPr/>
        </p:nvSpPr>
        <p:spPr>
          <a:xfrm>
            <a:off x="1032387" y="2880975"/>
            <a:ext cx="5978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High-Sensitivity Optical Sensing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C4F7FC-0A94-4507-3C37-19C758CE7E60}"/>
              </a:ext>
            </a:extLst>
          </p:cNvPr>
          <p:cNvSpPr txBox="1"/>
          <p:nvPr/>
        </p:nvSpPr>
        <p:spPr>
          <a:xfrm>
            <a:off x="9538607" y="580102"/>
            <a:ext cx="276769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Jacob Juca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MTSU Quantum-Optics 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07/31/26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548CF7-64EF-2C1F-8F45-A47DDDD020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255" y="3342640"/>
            <a:ext cx="7039271" cy="31101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06E3B5-161E-2146-2CE3-835C1A023EE6}"/>
              </a:ext>
            </a:extLst>
          </p:cNvPr>
          <p:cNvSpPr txBox="1"/>
          <p:nvPr/>
        </p:nvSpPr>
        <p:spPr>
          <a:xfrm>
            <a:off x="342900" y="5855643"/>
            <a:ext cx="1992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Grivas et al., Single-mode tunable laser emission in the single-exciton regime from colloidal nanocrystals (2013).</a:t>
            </a:r>
          </a:p>
        </p:txBody>
      </p:sp>
    </p:spTree>
    <p:extLst>
      <p:ext uri="{BB962C8B-B14F-4D97-AF65-F5344CB8AC3E}">
        <p14:creationId xmlns:p14="http://schemas.microsoft.com/office/powerpoint/2010/main" val="1424714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7FA4DF-1F75-BE97-A8C2-28CFD4684C26}"/>
              </a:ext>
            </a:extLst>
          </p:cNvPr>
          <p:cNvSpPr txBox="1"/>
          <p:nvPr/>
        </p:nvSpPr>
        <p:spPr>
          <a:xfrm>
            <a:off x="563431" y="538209"/>
            <a:ext cx="8131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High-Sensitivity Optical Sensors?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221DAA-15B7-92D8-5B99-8AD4D35CB853}"/>
              </a:ext>
            </a:extLst>
          </p:cNvPr>
          <p:cNvSpPr txBox="1"/>
          <p:nvPr/>
        </p:nvSpPr>
        <p:spPr>
          <a:xfrm>
            <a:off x="814166" y="2196123"/>
            <a:ext cx="425938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extremely small changes in physical and chemical environments.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the interaction between light and surrounding materials.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 small environmental changes into measurable optical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24A75-0119-F607-2211-CD0767EE4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0413" y="1701712"/>
            <a:ext cx="5199464" cy="44455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ACC22A-AD0D-256D-CA6E-4A768C7DFC3B}"/>
              </a:ext>
            </a:extLst>
          </p:cNvPr>
          <p:cNvSpPr txBox="1"/>
          <p:nvPr/>
        </p:nvSpPr>
        <p:spPr>
          <a:xfrm>
            <a:off x="7022237" y="6147311"/>
            <a:ext cx="41636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Zhang et al., Advances in Tapered Optical Fiber Sensor Structures: From Conventional to Novel and Emerging (2021).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502C84-BBF9-D508-762F-778B8A5C1B31}"/>
              </a:ext>
            </a:extLst>
          </p:cNvPr>
          <p:cNvSpPr txBox="1"/>
          <p:nvPr/>
        </p:nvSpPr>
        <p:spPr>
          <a:xfrm>
            <a:off x="11778998" y="6488668"/>
            <a:ext cx="5182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46314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21C8C0-0921-6918-272C-B791379E4E44}"/>
              </a:ext>
            </a:extLst>
          </p:cNvPr>
          <p:cNvSpPr txBox="1"/>
          <p:nvPr/>
        </p:nvSpPr>
        <p:spPr>
          <a:xfrm>
            <a:off x="322729" y="376518"/>
            <a:ext cx="666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3EB4D4-DD94-E683-A878-8B81DE5E216A}"/>
              </a:ext>
            </a:extLst>
          </p:cNvPr>
          <p:cNvSpPr txBox="1"/>
          <p:nvPr/>
        </p:nvSpPr>
        <p:spPr>
          <a:xfrm>
            <a:off x="578613" y="515330"/>
            <a:ext cx="77186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Sensor System Overview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8017FBF-3885-925E-0377-8434EEC696A4}"/>
              </a:ext>
            </a:extLst>
          </p:cNvPr>
          <p:cNvGrpSpPr/>
          <p:nvPr/>
        </p:nvGrpSpPr>
        <p:grpSpPr>
          <a:xfrm>
            <a:off x="2237267" y="2887276"/>
            <a:ext cx="7717465" cy="3455394"/>
            <a:chOff x="2236121" y="2528047"/>
            <a:chExt cx="7717465" cy="3455394"/>
          </a:xfrm>
        </p:grpSpPr>
        <p:pic>
          <p:nvPicPr>
            <p:cNvPr id="2" name="Picture 1" descr="Sound source localization by Ormia ochracea inspired low–noise ...">
              <a:extLst>
                <a:ext uri="{FF2B5EF4-FFF2-40B4-BE49-F238E27FC236}">
                  <a16:creationId xmlns:a16="http://schemas.microsoft.com/office/drawing/2014/main" id="{9DBC85CE-C9FE-A682-36EC-B09B5DE186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6121" y="2896957"/>
              <a:ext cx="7717465" cy="2199477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94D6492D-1F50-79DC-FB5C-7A9ABB326FB7}"/>
                </a:ext>
              </a:extLst>
            </p:cNvPr>
            <p:cNvSpPr/>
            <p:nvPr/>
          </p:nvSpPr>
          <p:spPr>
            <a:xfrm>
              <a:off x="2528047" y="2528047"/>
              <a:ext cx="806824" cy="368910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Input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CCDF968F-E0D2-4F7E-92CB-A3AE630ED3F0}"/>
                </a:ext>
              </a:extLst>
            </p:cNvPr>
            <p:cNvSpPr/>
            <p:nvPr/>
          </p:nvSpPr>
          <p:spPr>
            <a:xfrm>
              <a:off x="5207933" y="2770094"/>
              <a:ext cx="1411942" cy="584775"/>
            </a:xfrm>
            <a:prstGeom prst="roundRect">
              <a:avLst/>
            </a:prstGeom>
            <a:solidFill>
              <a:srgbClr val="1A6C2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Optical Fiber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56B965E-4981-2EB2-CA84-F0C8F214EC6B}"/>
                </a:ext>
              </a:extLst>
            </p:cNvPr>
            <p:cNvSpPr/>
            <p:nvPr/>
          </p:nvSpPr>
          <p:spPr>
            <a:xfrm>
              <a:off x="4898090" y="4808119"/>
              <a:ext cx="1978959" cy="802106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Whispering-Gallery Mode Resonator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AB426DC0-9AEA-C880-8DCB-7E55D2AD4C55}"/>
                </a:ext>
              </a:extLst>
            </p:cNvPr>
            <p:cNvSpPr/>
            <p:nvPr/>
          </p:nvSpPr>
          <p:spPr>
            <a:xfrm>
              <a:off x="8179745" y="2871787"/>
              <a:ext cx="1411942" cy="71437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Optical Analyzer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02736D-34C3-EF6B-7470-0610C4FE3F25}"/>
                </a:ext>
              </a:extLst>
            </p:cNvPr>
            <p:cNvSpPr txBox="1"/>
            <p:nvPr/>
          </p:nvSpPr>
          <p:spPr>
            <a:xfrm>
              <a:off x="7511143" y="5337110"/>
              <a:ext cx="24424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Coillet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et al., Microwave Photonics Systems Based on Whispering-Gallery-Mode Resonators (2013).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4C7114F-03A0-4260-0273-E05D56BE13E6}"/>
              </a:ext>
            </a:extLst>
          </p:cNvPr>
          <p:cNvSpPr txBox="1"/>
          <p:nvPr/>
        </p:nvSpPr>
        <p:spPr>
          <a:xfrm>
            <a:off x="11805920" y="646834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55440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5F435-DE6E-F2BD-A84B-B80AA8E5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76213C-7980-10E5-D89D-17C5AC612111}"/>
              </a:ext>
            </a:extLst>
          </p:cNvPr>
          <p:cNvSpPr txBox="1"/>
          <p:nvPr/>
        </p:nvSpPr>
        <p:spPr>
          <a:xfrm>
            <a:off x="322729" y="376518"/>
            <a:ext cx="6669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773EC1-1CB6-D345-50D2-4374936D2D37}"/>
              </a:ext>
            </a:extLst>
          </p:cNvPr>
          <p:cNvSpPr txBox="1"/>
          <p:nvPr/>
        </p:nvSpPr>
        <p:spPr>
          <a:xfrm>
            <a:off x="605116" y="561184"/>
            <a:ext cx="77186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Optical Sensor System Overview Explained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969BC7-9A50-7F4F-9625-0CCAF11F20B1}"/>
              </a:ext>
            </a:extLst>
          </p:cNvPr>
          <p:cNvGrpSpPr/>
          <p:nvPr/>
        </p:nvGrpSpPr>
        <p:grpSpPr>
          <a:xfrm>
            <a:off x="5526158" y="2658676"/>
            <a:ext cx="6213832" cy="2909367"/>
            <a:chOff x="2236121" y="2528047"/>
            <a:chExt cx="7717465" cy="3455394"/>
          </a:xfrm>
        </p:grpSpPr>
        <p:pic>
          <p:nvPicPr>
            <p:cNvPr id="2" name="Picture 1" descr="Sound source localization by Ormia ochracea inspired low–noise ...">
              <a:extLst>
                <a:ext uri="{FF2B5EF4-FFF2-40B4-BE49-F238E27FC236}">
                  <a16:creationId xmlns:a16="http://schemas.microsoft.com/office/drawing/2014/main" id="{61E4F80A-F6A9-B885-C026-AFB79D644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36121" y="2896957"/>
              <a:ext cx="7717465" cy="2199477"/>
            </a:xfrm>
            <a:prstGeom prst="rect">
              <a:avLst/>
            </a:prstGeom>
          </p:spPr>
        </p:pic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2969813-1AE6-D934-A2E7-C719E6664ADF}"/>
                </a:ext>
              </a:extLst>
            </p:cNvPr>
            <p:cNvSpPr/>
            <p:nvPr/>
          </p:nvSpPr>
          <p:spPr>
            <a:xfrm>
              <a:off x="2528047" y="2528047"/>
              <a:ext cx="1120016" cy="368910"/>
            </a:xfrm>
            <a:prstGeom prst="roundRect">
              <a:avLst>
                <a:gd name="adj" fmla="val 0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Input</a:t>
              </a:r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EC6D499B-BC18-7B03-384B-405DE11A1F54}"/>
                </a:ext>
              </a:extLst>
            </p:cNvPr>
            <p:cNvSpPr/>
            <p:nvPr/>
          </p:nvSpPr>
          <p:spPr>
            <a:xfrm>
              <a:off x="5207933" y="2770094"/>
              <a:ext cx="1411942" cy="584775"/>
            </a:xfrm>
            <a:prstGeom prst="roundRect">
              <a:avLst/>
            </a:prstGeom>
            <a:solidFill>
              <a:srgbClr val="1A6C2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Optical Fiber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F63F9F9-B0E8-BC74-5F57-0D44BB884EF5}"/>
                </a:ext>
              </a:extLst>
            </p:cNvPr>
            <p:cNvSpPr/>
            <p:nvPr/>
          </p:nvSpPr>
          <p:spPr>
            <a:xfrm>
              <a:off x="4898088" y="4808119"/>
              <a:ext cx="2026771" cy="646331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WGM Resonator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FBB18A70-AF4A-555E-B8E3-152BA748F704}"/>
                </a:ext>
              </a:extLst>
            </p:cNvPr>
            <p:cNvSpPr/>
            <p:nvPr/>
          </p:nvSpPr>
          <p:spPr>
            <a:xfrm>
              <a:off x="8179746" y="2871787"/>
              <a:ext cx="1603011" cy="714375"/>
            </a:xfrm>
            <a:prstGeom prst="roundRect">
              <a:avLst/>
            </a:prstGeom>
            <a:solidFill>
              <a:schemeClr val="accent5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Analyzer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4AEBDB1-935D-65B8-D02F-2B05B4DECF8D}"/>
                </a:ext>
              </a:extLst>
            </p:cNvPr>
            <p:cNvSpPr txBox="1"/>
            <p:nvPr/>
          </p:nvSpPr>
          <p:spPr>
            <a:xfrm>
              <a:off x="7511143" y="5337110"/>
              <a:ext cx="24424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Coillet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et al., Microwave Photonics Systems Based on Whispering-Gallery-Mode Resonators (2013).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BC94E06-59AA-63EA-D412-9C887E6CBA2A}"/>
              </a:ext>
            </a:extLst>
          </p:cNvPr>
          <p:cNvSpPr txBox="1"/>
          <p:nvPr/>
        </p:nvSpPr>
        <p:spPr>
          <a:xfrm>
            <a:off x="11739990" y="6478508"/>
            <a:ext cx="370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C64F7B0-CF6C-9BB2-D992-0EE8837BC50C}"/>
              </a:ext>
            </a:extLst>
          </p:cNvPr>
          <p:cNvSpPr/>
          <p:nvPr/>
        </p:nvSpPr>
        <p:spPr>
          <a:xfrm>
            <a:off x="605118" y="2082432"/>
            <a:ext cx="4097511" cy="102132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Tunable Laser Source: Provides controlled optical input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F062A5C-7DA1-0172-82DC-356B9CA56CF2}"/>
              </a:ext>
            </a:extLst>
          </p:cNvPr>
          <p:cNvSpPr/>
          <p:nvPr/>
        </p:nvSpPr>
        <p:spPr>
          <a:xfrm>
            <a:off x="605118" y="3285854"/>
            <a:ext cx="4097511" cy="1021327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Tapered Fiber: Couples light into the resonator 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1CA9731-AD77-C364-4774-A7C78EEA5AEA}"/>
              </a:ext>
            </a:extLst>
          </p:cNvPr>
          <p:cNvSpPr/>
          <p:nvPr/>
        </p:nvSpPr>
        <p:spPr>
          <a:xfrm>
            <a:off x="605117" y="4513182"/>
            <a:ext cx="4097511" cy="1021327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Resonator: Traps light (evanescent field) in a repeating circular path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D121E6F-C79B-40D0-D6F1-0284208BC418}"/>
              </a:ext>
            </a:extLst>
          </p:cNvPr>
          <p:cNvSpPr/>
          <p:nvPr/>
        </p:nvSpPr>
        <p:spPr>
          <a:xfrm>
            <a:off x="605116" y="5730454"/>
            <a:ext cx="4097511" cy="1021327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Optical Spectrum Analyzer: Measures wavelength shifts</a:t>
            </a:r>
          </a:p>
        </p:txBody>
      </p:sp>
    </p:spTree>
    <p:extLst>
      <p:ext uri="{BB962C8B-B14F-4D97-AF65-F5344CB8AC3E}">
        <p14:creationId xmlns:p14="http://schemas.microsoft.com/office/powerpoint/2010/main" val="4087303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62428F-0143-8B92-AA7F-7800FC78D05D}"/>
              </a:ext>
            </a:extLst>
          </p:cNvPr>
          <p:cNvSpPr txBox="1"/>
          <p:nvPr/>
        </p:nvSpPr>
        <p:spPr>
          <a:xfrm>
            <a:off x="615280" y="647720"/>
            <a:ext cx="76635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Light Confinement in Optical Fibers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EB857E-3720-646D-E8D0-20763D6BCA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863" y="1647312"/>
            <a:ext cx="3922978" cy="341217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CF87FC9-97E7-07E6-3397-E659C6DCEC50}"/>
              </a:ext>
            </a:extLst>
          </p:cNvPr>
          <p:cNvGrpSpPr/>
          <p:nvPr/>
        </p:nvGrpSpPr>
        <p:grpSpPr>
          <a:xfrm>
            <a:off x="4398815" y="4806184"/>
            <a:ext cx="4403040" cy="437707"/>
            <a:chOff x="209177" y="4809522"/>
            <a:chExt cx="4040094" cy="43770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9A9215E-533F-2ABB-0EFB-AFA9EAB0C94A}"/>
                </a:ext>
              </a:extLst>
            </p:cNvPr>
            <p:cNvPicPr>
              <a:picLocks/>
            </p:cNvPicPr>
            <p:nvPr>
              <p:custDataLst>
                <p:tags r:id="rId5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596941" y="4809523"/>
              <a:ext cx="2652330" cy="437706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D26BB31-D90F-8F40-6A43-78AAC286A5A0}"/>
                </a:ext>
              </a:extLst>
            </p:cNvPr>
            <p:cNvSpPr txBox="1"/>
            <p:nvPr/>
          </p:nvSpPr>
          <p:spPr>
            <a:xfrm>
              <a:off x="209177" y="4809522"/>
              <a:ext cx="14953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Snell’s Law:</a:t>
              </a: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4B79278-0A89-565A-CC3D-5F879BA02A4E}"/>
              </a:ext>
            </a:extLst>
          </p:cNvPr>
          <p:cNvGrpSpPr/>
          <p:nvPr/>
        </p:nvGrpSpPr>
        <p:grpSpPr>
          <a:xfrm>
            <a:off x="4398815" y="5382518"/>
            <a:ext cx="1827175" cy="540512"/>
            <a:chOff x="273262" y="5468402"/>
            <a:chExt cx="1827175" cy="540512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02099BC-B806-FDD7-0C25-41F9C7083096}"/>
                </a:ext>
              </a:extLst>
            </p:cNvPr>
            <p:cNvPicPr>
              <a:picLocks/>
            </p:cNvPicPr>
            <p:nvPr>
              <p:custDataLst>
                <p:tags r:id="rId4"/>
              </p:custDataLst>
            </p:nvPr>
          </p:nvPicPr>
          <p:blipFill>
            <a:blip r:embed="rId9"/>
            <a:stretch>
              <a:fillRect/>
            </a:stretch>
          </p:blipFill>
          <p:spPr>
            <a:xfrm>
              <a:off x="1465166" y="5468402"/>
              <a:ext cx="635271" cy="54051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2A9292C6-AC6F-34E4-8D02-7975C8B58C34}"/>
                </a:ext>
              </a:extLst>
            </p:cNvPr>
            <p:cNvSpPr txBox="1"/>
            <p:nvPr/>
          </p:nvSpPr>
          <p:spPr>
            <a:xfrm>
              <a:off x="273262" y="5525702"/>
              <a:ext cx="11935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Because: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CD2AC7-4909-9436-A329-9335E5615CC6}"/>
              </a:ext>
            </a:extLst>
          </p:cNvPr>
          <p:cNvGrpSpPr/>
          <p:nvPr/>
        </p:nvGrpSpPr>
        <p:grpSpPr>
          <a:xfrm>
            <a:off x="4398815" y="6064429"/>
            <a:ext cx="2290582" cy="412890"/>
            <a:chOff x="273263" y="6218726"/>
            <a:chExt cx="2290582" cy="41289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5CA022E-5174-DD19-7A7E-95E5C32A46C1}"/>
                </a:ext>
              </a:extLst>
            </p:cNvPr>
            <p:cNvSpPr txBox="1"/>
            <p:nvPr/>
          </p:nvSpPr>
          <p:spPr>
            <a:xfrm>
              <a:off x="273263" y="6218726"/>
              <a:ext cx="119358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Becomes:</a:t>
              </a: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C62112C-FD72-A1E0-1204-7CBA0A90178E}"/>
                </a:ext>
              </a:extLst>
            </p:cNvPr>
            <p:cNvPicPr>
              <a:picLocks/>
            </p:cNvPicPr>
            <p:nvPr>
              <p:custDataLst>
                <p:tags r:id="rId3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370257" y="6262284"/>
              <a:ext cx="1193588" cy="369332"/>
            </a:xfrm>
            <a:prstGeom prst="rect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AB0C248-D407-7F56-137B-5092876AC068}"/>
              </a:ext>
            </a:extLst>
          </p:cNvPr>
          <p:cNvSpPr txBox="1"/>
          <p:nvPr/>
        </p:nvSpPr>
        <p:spPr>
          <a:xfrm>
            <a:off x="450221" y="2134620"/>
            <a:ext cx="142552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Eagle Group, How Does a Fiber Laser Work? (2022).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7E05FC-E8B6-68BA-2F40-230287556DCF}"/>
              </a:ext>
            </a:extLst>
          </p:cNvPr>
          <p:cNvSpPr txBox="1"/>
          <p:nvPr/>
        </p:nvSpPr>
        <p:spPr>
          <a:xfrm>
            <a:off x="11765280" y="6495964"/>
            <a:ext cx="3251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6DBFC07-C628-DDE3-D553-EBF0AA0CA4CD}"/>
                  </a:ext>
                </a:extLst>
              </p14:cNvPr>
              <p14:cNvContentPartPr/>
              <p14:nvPr/>
            </p14:nvContentPartPr>
            <p14:xfrm>
              <a:off x="8128000" y="3281560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6DBFC07-C628-DDE3-D553-EBF0AA0CA4C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21520" y="3275440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7169B2B-100D-2F48-3E44-0E0D17ECFD93}"/>
                  </a:ext>
                </a:extLst>
              </p14:cNvPr>
              <p14:cNvContentPartPr/>
              <p14:nvPr/>
            </p14:nvContentPartPr>
            <p14:xfrm>
              <a:off x="5394880" y="2905720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7169B2B-100D-2F48-3E44-0E0D17ECFD9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388760" y="2899600"/>
                <a:ext cx="12600" cy="1260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A81982ED-2D18-E911-7B5A-3A26052C31DA}"/>
              </a:ext>
            </a:extLst>
          </p:cNvPr>
          <p:cNvGrpSpPr/>
          <p:nvPr/>
        </p:nvGrpSpPr>
        <p:grpSpPr>
          <a:xfrm>
            <a:off x="4612217" y="1652586"/>
            <a:ext cx="7579783" cy="2021532"/>
            <a:chOff x="4612217" y="2533650"/>
            <a:chExt cx="7579783" cy="2021532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5E849713-0D82-FE78-AEB8-CD4CE731B823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612217" y="2533650"/>
              <a:ext cx="6591300" cy="1790700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B3608A7D-F496-4F59-5C2E-B6160FC0579A}"/>
                </a:ext>
              </a:extLst>
            </p:cNvPr>
            <p:cNvSpPr txBox="1"/>
            <p:nvPr/>
          </p:nvSpPr>
          <p:spPr>
            <a:xfrm>
              <a:off x="8189106" y="4093517"/>
              <a:ext cx="400289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LSO Link, </a:t>
              </a:r>
              <a:r>
                <a:rPr lang="en-US" sz="1200" i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Everything You Need to Know About Single Mode Fiber Optic Cable</a:t>
              </a:r>
              <a:r>
                <a:rPr 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(2025).</a:t>
              </a:r>
            </a:p>
          </p:txBody>
        </p:sp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07EDAD0C-420A-F41B-0E54-A5B0240F56D0}"/>
              </a:ext>
            </a:extLst>
          </p:cNvPr>
          <p:cNvSpPr txBox="1"/>
          <p:nvPr/>
        </p:nvSpPr>
        <p:spPr>
          <a:xfrm>
            <a:off x="4343811" y="2936974"/>
            <a:ext cx="12896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41BB93CB-F117-7537-5C13-C6A596FC71B0}"/>
                  </a:ext>
                </a:extLst>
              </p14:cNvPr>
              <p14:cNvContentPartPr/>
              <p14:nvPr/>
            </p14:nvContentPartPr>
            <p14:xfrm>
              <a:off x="4398815" y="3229848"/>
              <a:ext cx="564480" cy="72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41BB93CB-F117-7537-5C13-C6A596FC71B0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392695" y="3216888"/>
                <a:ext cx="57672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104727AD-2A54-851C-A5F3-445521081BDD}"/>
                  </a:ext>
                </a:extLst>
              </p14:cNvPr>
              <p14:cNvContentPartPr/>
              <p14:nvPr/>
            </p14:nvContentPartPr>
            <p14:xfrm>
              <a:off x="4960380" y="2619960"/>
              <a:ext cx="608760" cy="6087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104727AD-2A54-851C-A5F3-445521081BDD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954260" y="2613840"/>
                <a:ext cx="621000" cy="621000"/>
              </a:xfrm>
              <a:prstGeom prst="rect">
                <a:avLst/>
              </a:prstGeom>
            </p:spPr>
          </p:pic>
        </mc:Fallback>
      </mc:AlternateContent>
      <p:sp>
        <p:nvSpPr>
          <p:cNvPr id="52" name="TextBox 51">
            <a:extLst>
              <a:ext uri="{FF2B5EF4-FFF2-40B4-BE49-F238E27FC236}">
                <a16:creationId xmlns:a16="http://schemas.microsoft.com/office/drawing/2014/main" id="{93F80E84-1E70-99E6-AEBA-11E78A6902C5}"/>
              </a:ext>
            </a:extLst>
          </p:cNvPr>
          <p:cNvSpPr txBox="1"/>
          <p:nvPr/>
        </p:nvSpPr>
        <p:spPr>
          <a:xfrm>
            <a:off x="5311458" y="2936974"/>
            <a:ext cx="112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Cladding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E45A4F7-003C-0EA0-B340-D05F54E23A0F}"/>
                  </a:ext>
                </a:extLst>
              </p14:cNvPr>
              <p14:cNvContentPartPr/>
              <p14:nvPr/>
            </p14:nvContentPartPr>
            <p14:xfrm>
              <a:off x="5407179" y="3242717"/>
              <a:ext cx="933840" cy="7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E45A4F7-003C-0EA0-B340-D05F54E23A0F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5401059" y="3230477"/>
                <a:ext cx="94608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5805625F-7F2C-5A26-CF3A-6EFF28C63115}"/>
                  </a:ext>
                </a:extLst>
              </p14:cNvPr>
              <p14:cNvContentPartPr/>
              <p14:nvPr/>
            </p14:nvContentPartPr>
            <p14:xfrm>
              <a:off x="6346779" y="2736557"/>
              <a:ext cx="509760" cy="50976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5805625F-7F2C-5A26-CF3A-6EFF28C63115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6340659" y="2730437"/>
                <a:ext cx="522000" cy="522000"/>
              </a:xfrm>
              <a:prstGeom prst="rect">
                <a:avLst/>
              </a:prstGeom>
            </p:spPr>
          </p:pic>
        </mc:Fallback>
      </mc:AlternateContent>
      <p:sp>
        <p:nvSpPr>
          <p:cNvPr id="59" name="TextBox 58">
            <a:extLst>
              <a:ext uri="{FF2B5EF4-FFF2-40B4-BE49-F238E27FC236}">
                <a16:creationId xmlns:a16="http://schemas.microsoft.com/office/drawing/2014/main" id="{609F4D5D-699A-AAED-1318-C08176EFE4A1}"/>
              </a:ext>
            </a:extLst>
          </p:cNvPr>
          <p:cNvSpPr txBox="1"/>
          <p:nvPr/>
        </p:nvSpPr>
        <p:spPr>
          <a:xfrm>
            <a:off x="6536465" y="3242717"/>
            <a:ext cx="1500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Outer Layer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CF71B07F-BBEA-8992-4C1E-BB0FF0643413}"/>
                  </a:ext>
                </a:extLst>
              </p14:cNvPr>
              <p14:cNvContentPartPr/>
              <p14:nvPr/>
            </p14:nvContentPartPr>
            <p14:xfrm>
              <a:off x="6647591" y="3528959"/>
              <a:ext cx="1220400" cy="72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CF71B07F-BBEA-8992-4C1E-BB0FF064341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641471" y="3516719"/>
                <a:ext cx="1232640" cy="2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3A3B3B7E-1A9F-6136-B5B1-5C23361711F0}"/>
                  </a:ext>
                </a:extLst>
              </p14:cNvPr>
              <p14:cNvContentPartPr/>
              <p14:nvPr/>
            </p14:nvContentPartPr>
            <p14:xfrm>
              <a:off x="7867631" y="3022799"/>
              <a:ext cx="401760" cy="504360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3A3B3B7E-1A9F-6136-B5B1-5C23361711F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861511" y="3016679"/>
                <a:ext cx="414000" cy="516600"/>
              </a:xfrm>
              <a:prstGeom prst="rect">
                <a:avLst/>
              </a:prstGeom>
            </p:spPr>
          </p:pic>
        </mc:Fallback>
      </mc:AlternateContent>
      <p:sp>
        <p:nvSpPr>
          <p:cNvPr id="66" name="TextBox 65">
            <a:extLst>
              <a:ext uri="{FF2B5EF4-FFF2-40B4-BE49-F238E27FC236}">
                <a16:creationId xmlns:a16="http://schemas.microsoft.com/office/drawing/2014/main" id="{1858A7EC-4680-FD47-E5F7-E79C5C0568DE}"/>
              </a:ext>
            </a:extLst>
          </p:cNvPr>
          <p:cNvSpPr txBox="1"/>
          <p:nvPr/>
        </p:nvSpPr>
        <p:spPr>
          <a:xfrm>
            <a:off x="9276080" y="5366274"/>
            <a:ext cx="24180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Internal Reflection!</a:t>
            </a:r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D25542D4-D44E-6607-DF77-E57ED8E7A4D2}"/>
              </a:ext>
            </a:extLst>
          </p:cNvPr>
          <p:cNvPicPr>
            <a:picLocks/>
          </p:cNvPicPr>
          <p:nvPr>
            <p:custDataLst>
              <p:tags r:id="rId1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4235429" y="3312174"/>
            <a:ext cx="837184" cy="180848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DFFD0BB8-F26E-58A9-5926-9D2ED2165A45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5546693" y="3328896"/>
            <a:ext cx="621792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734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17531F-26FD-2ACE-43C9-9EFE8E6A4BFE}"/>
              </a:ext>
            </a:extLst>
          </p:cNvPr>
          <p:cNvSpPr txBox="1"/>
          <p:nvPr/>
        </p:nvSpPr>
        <p:spPr>
          <a:xfrm>
            <a:off x="552203" y="596906"/>
            <a:ext cx="78638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Tapered Optical Fibers and Sensing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38C28FA-9F83-EE56-5B35-3811D4A93254}"/>
              </a:ext>
            </a:extLst>
          </p:cNvPr>
          <p:cNvGrpSpPr/>
          <p:nvPr/>
        </p:nvGrpSpPr>
        <p:grpSpPr>
          <a:xfrm>
            <a:off x="65972" y="2617009"/>
            <a:ext cx="5707691" cy="4264599"/>
            <a:chOff x="5773330" y="2050555"/>
            <a:chExt cx="5707691" cy="4264599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2B39C64-5C70-2824-143D-B93132C7DB82}"/>
                </a:ext>
              </a:extLst>
            </p:cNvPr>
            <p:cNvGrpSpPr/>
            <p:nvPr/>
          </p:nvGrpSpPr>
          <p:grpSpPr>
            <a:xfrm>
              <a:off x="5797685" y="2050555"/>
              <a:ext cx="5683336" cy="4159725"/>
              <a:chOff x="5797685" y="2050555"/>
              <a:chExt cx="5683336" cy="4159725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88D3F56F-ED0B-DA7F-1D01-B45E27C3D8B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297"/>
              <a:stretch>
                <a:fillRect/>
              </a:stretch>
            </p:blipFill>
            <p:spPr>
              <a:xfrm>
                <a:off x="5797685" y="2107655"/>
                <a:ext cx="5683336" cy="4102625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0A39C53-9929-2982-146E-19C78E3AA9F9}"/>
                  </a:ext>
                </a:extLst>
              </p:cNvPr>
              <p:cNvSpPr txBox="1"/>
              <p:nvPr/>
            </p:nvSpPr>
            <p:spPr>
              <a:xfrm>
                <a:off x="7086599" y="2073639"/>
                <a:ext cx="1137063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Cladding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846DE01-B5D8-36FE-61AF-952FC7D9A52E}"/>
                  </a:ext>
                </a:extLst>
              </p:cNvPr>
              <p:cNvSpPr txBox="1"/>
              <p:nvPr/>
            </p:nvSpPr>
            <p:spPr>
              <a:xfrm>
                <a:off x="8191005" y="2050555"/>
                <a:ext cx="196239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Evanescent Field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1F852E5-356C-C177-DD90-30E0A2BD8DD3}"/>
                  </a:ext>
                </a:extLst>
              </p:cNvPr>
              <p:cNvSpPr txBox="1"/>
              <p:nvPr/>
            </p:nvSpPr>
            <p:spPr>
              <a:xfrm>
                <a:off x="7350976" y="2501678"/>
                <a:ext cx="927847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</a:t>
                </a: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6266992-3566-8F7D-BFBC-64DF44583901}"/>
                  </a:ext>
                </a:extLst>
              </p:cNvPr>
              <p:cNvSpPr txBox="1"/>
              <p:nvPr/>
            </p:nvSpPr>
            <p:spPr>
              <a:xfrm>
                <a:off x="7086599" y="4352925"/>
                <a:ext cx="406717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Evanescent Field: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decaying electromagnetic field that extends beyond the fiber core and enables light–matter interaction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3DD606C-6567-0B6E-0CF4-2A70BA48462B}"/>
                </a:ext>
              </a:extLst>
            </p:cNvPr>
            <p:cNvSpPr txBox="1"/>
            <p:nvPr/>
          </p:nvSpPr>
          <p:spPr>
            <a:xfrm>
              <a:off x="5773330" y="5761156"/>
              <a:ext cx="222334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Soares et al., </a:t>
              </a:r>
              <a:r>
                <a:rPr lang="en-US" sz="1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Immunosensing</a:t>
              </a:r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Based on Optical Fiber Technology: Recent Advances, (2021) </a:t>
              </a: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ED5C217-2B90-AA44-6B53-7910E766A8BA}"/>
              </a:ext>
            </a:extLst>
          </p:cNvPr>
          <p:cNvGrpSpPr/>
          <p:nvPr/>
        </p:nvGrpSpPr>
        <p:grpSpPr>
          <a:xfrm>
            <a:off x="6380261" y="3402279"/>
            <a:ext cx="5844346" cy="3374455"/>
            <a:chOff x="6380261" y="3402279"/>
            <a:chExt cx="5844346" cy="3374455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3130317F-586B-DE4C-5C09-74984A1991D7}"/>
                </a:ext>
              </a:extLst>
            </p:cNvPr>
            <p:cNvGrpSpPr/>
            <p:nvPr/>
          </p:nvGrpSpPr>
          <p:grpSpPr>
            <a:xfrm>
              <a:off x="6380261" y="3402279"/>
              <a:ext cx="5811739" cy="2955515"/>
              <a:chOff x="6380261" y="3402279"/>
              <a:chExt cx="5811739" cy="2955515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870A221-D738-DE1F-DC9B-77DAE82F7CF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21120" y="3402279"/>
                <a:ext cx="5242936" cy="2793933"/>
              </a:xfrm>
              <a:prstGeom prst="rect">
                <a:avLst/>
              </a:prstGeom>
            </p:spPr>
          </p:pic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FDA406-6A2A-6962-D6B7-5820EE3DC575}"/>
                  </a:ext>
                </a:extLst>
              </p:cNvPr>
              <p:cNvSpPr txBox="1"/>
              <p:nvPr/>
            </p:nvSpPr>
            <p:spPr>
              <a:xfrm>
                <a:off x="6380261" y="3913631"/>
                <a:ext cx="157276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Rotating stage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166804-9DE6-B580-E23C-317A5803601D}"/>
                  </a:ext>
                </a:extLst>
              </p:cNvPr>
              <p:cNvSpPr txBox="1"/>
              <p:nvPr/>
            </p:nvSpPr>
            <p:spPr>
              <a:xfrm>
                <a:off x="10619232" y="4933268"/>
                <a:ext cx="1572768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Rotating stage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3EC949D-D3D9-E664-6904-2FFA01B49B3B}"/>
                  </a:ext>
                </a:extLst>
              </p:cNvPr>
              <p:cNvSpPr txBox="1"/>
              <p:nvPr/>
            </p:nvSpPr>
            <p:spPr>
              <a:xfrm>
                <a:off x="9599364" y="3946683"/>
                <a:ext cx="96948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Cladding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7FB0DD89-27E8-E222-34DC-C29A9FDA865D}"/>
                  </a:ext>
                </a:extLst>
              </p:cNvPr>
              <p:cNvSpPr txBox="1"/>
              <p:nvPr/>
            </p:nvSpPr>
            <p:spPr>
              <a:xfrm>
                <a:off x="10619232" y="3913630"/>
                <a:ext cx="1171804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Core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D8FDB20D-70BE-93FA-FCD4-65F39E86B78B}"/>
                  </a:ext>
                </a:extLst>
              </p:cNvPr>
              <p:cNvSpPr txBox="1"/>
              <p:nvPr/>
            </p:nvSpPr>
            <p:spPr>
              <a:xfrm>
                <a:off x="8837331" y="6034629"/>
                <a:ext cx="1478166" cy="3231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Heat</a:t>
                </a:r>
              </a:p>
            </p:txBody>
          </p: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C697E99C-D5DA-CC48-496C-087CBB892BAB}"/>
                </a:ext>
              </a:extLst>
            </p:cNvPr>
            <p:cNvSpPr txBox="1"/>
            <p:nvPr/>
          </p:nvSpPr>
          <p:spPr>
            <a:xfrm>
              <a:off x="9754946" y="6222736"/>
              <a:ext cx="2469661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Yu et al., Fabrication of an Optical Fiber Micro-Sphere with a Diameter of Several Tens of Micrometers,(2014)</a:t>
              </a: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560F4173-524E-7965-38B3-7B63619A15E3}"/>
              </a:ext>
            </a:extLst>
          </p:cNvPr>
          <p:cNvSpPr txBox="1"/>
          <p:nvPr/>
        </p:nvSpPr>
        <p:spPr>
          <a:xfrm>
            <a:off x="11791036" y="6488668"/>
            <a:ext cx="527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274980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8A3B432-839E-E58A-BFCD-24E2FACDF107}"/>
              </a:ext>
            </a:extLst>
          </p:cNvPr>
          <p:cNvSpPr txBox="1"/>
          <p:nvPr/>
        </p:nvSpPr>
        <p:spPr>
          <a:xfrm>
            <a:off x="762000" y="332509"/>
            <a:ext cx="775854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Whispering-Gallery Mode (WGM) Resonators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7EA7BE-09F9-8E3A-2FF0-750068F921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367" y="2052419"/>
            <a:ext cx="2449366" cy="22286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7EB87E-7A65-9340-C1B7-5C46E4BF47E2}"/>
              </a:ext>
            </a:extLst>
          </p:cNvPr>
          <p:cNvSpPr txBox="1"/>
          <p:nvPr/>
        </p:nvSpPr>
        <p:spPr>
          <a:xfrm>
            <a:off x="-12869" y="1669123"/>
            <a:ext cx="17660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Zheng et al., Sensing and Lasing Applications of Whispering Gallery Mode </a:t>
            </a:r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Microresonators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2018)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F2D96E-2495-E143-300D-FD7DEA918B4D}"/>
              </a:ext>
            </a:extLst>
          </p:cNvPr>
          <p:cNvSpPr txBox="1"/>
          <p:nvPr/>
        </p:nvSpPr>
        <p:spPr>
          <a:xfrm>
            <a:off x="870154" y="4323554"/>
            <a:ext cx="308241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Resonance occurs when the optical path length equals an integer multiple of the wavelength.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8F18CEA-802A-6C49-C8C3-E4AB5ED54A20}"/>
              </a:ext>
            </a:extLst>
          </p:cNvPr>
          <p:cNvGrpSpPr/>
          <p:nvPr/>
        </p:nvGrpSpPr>
        <p:grpSpPr>
          <a:xfrm>
            <a:off x="7071173" y="1913483"/>
            <a:ext cx="5283618" cy="2800928"/>
            <a:chOff x="7071173" y="1913483"/>
            <a:chExt cx="5283618" cy="280092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16AB34B-FEB3-ED2D-0F3B-22E2B469527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581154" y="1913483"/>
              <a:ext cx="3882713" cy="2800928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475F9FD-D6A1-84BE-0A1E-FAF66BFB26AF}"/>
                </a:ext>
              </a:extLst>
            </p:cNvPr>
            <p:cNvSpPr txBox="1"/>
            <p:nvPr/>
          </p:nvSpPr>
          <p:spPr>
            <a:xfrm>
              <a:off x="9881755" y="1913483"/>
              <a:ext cx="247303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Vahala, Optical Microcavities, (2003)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59BA1C4-A187-63E3-2859-80D92538FCFA}"/>
                </a:ext>
              </a:extLst>
            </p:cNvPr>
            <p:cNvSpPr txBox="1"/>
            <p:nvPr/>
          </p:nvSpPr>
          <p:spPr>
            <a:xfrm>
              <a:off x="7071173" y="4004028"/>
              <a:ext cx="1638487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/>
                <a:t>Silica Microsphere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28ECECAE-F866-A07F-3E80-D2E8DE163ACC}"/>
                </a:ext>
              </a:extLst>
            </p:cNvPr>
            <p:cNvPicPr>
              <a:picLocks/>
            </p:cNvPicPr>
            <p:nvPr>
              <p:custDataLst>
                <p:tags r:id="rId2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7379865" y="3450374"/>
              <a:ext cx="117856" cy="140208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3DBEE46-94C5-783F-EEB8-63E057FCF602}"/>
                </a:ext>
              </a:extLst>
            </p:cNvPr>
            <p:cNvSpPr txBox="1"/>
            <p:nvPr/>
          </p:nvSpPr>
          <p:spPr>
            <a:xfrm>
              <a:off x="7438793" y="3358895"/>
              <a:ext cx="1308422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 m mode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C3B0F8A-62D2-E326-BB19-CF5D91245CAD}"/>
              </a:ext>
            </a:extLst>
          </p:cNvPr>
          <p:cNvGrpSpPr/>
          <p:nvPr/>
        </p:nvGrpSpPr>
        <p:grpSpPr>
          <a:xfrm>
            <a:off x="6520543" y="5188877"/>
            <a:ext cx="4801303" cy="671547"/>
            <a:chOff x="6520543" y="5188877"/>
            <a:chExt cx="4801303" cy="671547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770635D-6977-2CF3-C483-73900EF3665B}"/>
                </a:ext>
              </a:extLst>
            </p:cNvPr>
            <p:cNvSpPr txBox="1"/>
            <p:nvPr/>
          </p:nvSpPr>
          <p:spPr>
            <a:xfrm>
              <a:off x="6520543" y="5188877"/>
              <a:ext cx="15724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99FE389-38DC-FCFD-7EB5-64B8A3A1ADCA}"/>
                </a:ext>
              </a:extLst>
            </p:cNvPr>
            <p:cNvSpPr txBox="1"/>
            <p:nvPr/>
          </p:nvSpPr>
          <p:spPr>
            <a:xfrm>
              <a:off x="6713010" y="5373543"/>
              <a:ext cx="45895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Quality Factor: Q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2ADFBF4A-4858-6C3C-CB05-01E126321BF1}"/>
                </a:ext>
              </a:extLst>
            </p:cNvPr>
            <p:cNvPicPr>
              <a:picLocks/>
            </p:cNvPicPr>
            <p:nvPr>
              <p:custDataLst>
                <p:tags r:id="rId1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8635542" y="5352424"/>
              <a:ext cx="2686304" cy="508000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E195A62-F090-4489-DCDF-45F32E147364}"/>
              </a:ext>
            </a:extLst>
          </p:cNvPr>
          <p:cNvSpPr txBox="1"/>
          <p:nvPr/>
        </p:nvSpPr>
        <p:spPr>
          <a:xfrm>
            <a:off x="11785600" y="6488668"/>
            <a:ext cx="27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4168252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814126D-46F6-C4DE-0693-93943C61BA7E}"/>
              </a:ext>
            </a:extLst>
          </p:cNvPr>
          <p:cNvSpPr txBox="1"/>
          <p:nvPr/>
        </p:nvSpPr>
        <p:spPr>
          <a:xfrm>
            <a:off x="414779" y="452487"/>
            <a:ext cx="83050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WGM Optical Sensing System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8950E0B-0DD1-2912-B1C4-4E8B3F59576E}"/>
              </a:ext>
            </a:extLst>
          </p:cNvPr>
          <p:cNvGrpSpPr/>
          <p:nvPr/>
        </p:nvGrpSpPr>
        <p:grpSpPr>
          <a:xfrm>
            <a:off x="3713992" y="2528354"/>
            <a:ext cx="8063230" cy="3629839"/>
            <a:chOff x="2574290" y="2528390"/>
            <a:chExt cx="8063230" cy="3629839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DC3FF38-EFC6-009A-5649-97E9A44BF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74290" y="2528390"/>
              <a:ext cx="8063230" cy="3629839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8C35FFB-3D29-C894-E641-87C4BC712870}"/>
                </a:ext>
              </a:extLst>
            </p:cNvPr>
            <p:cNvSpPr txBox="1"/>
            <p:nvPr/>
          </p:nvSpPr>
          <p:spPr>
            <a:xfrm>
              <a:off x="4814711" y="2619022"/>
              <a:ext cx="1360312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Spectrum Analyzer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CC737CD-2B82-5C05-76AB-574B33C92343}"/>
                </a:ext>
              </a:extLst>
            </p:cNvPr>
            <p:cNvSpPr txBox="1"/>
            <p:nvPr/>
          </p:nvSpPr>
          <p:spPr>
            <a:xfrm>
              <a:off x="4351866" y="5179494"/>
              <a:ext cx="1648179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 Meter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95C846D-162A-10EF-1B68-DB263DB22299}"/>
                </a:ext>
              </a:extLst>
            </p:cNvPr>
            <p:cNvSpPr txBox="1"/>
            <p:nvPr/>
          </p:nvSpPr>
          <p:spPr>
            <a:xfrm>
              <a:off x="8568267" y="5429956"/>
              <a:ext cx="1495777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Tunable Laser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26420B9-0D28-4E64-8146-73ACC9407A1D}"/>
                </a:ext>
              </a:extLst>
            </p:cNvPr>
            <p:cNvSpPr txBox="1"/>
            <p:nvPr/>
          </p:nvSpPr>
          <p:spPr>
            <a:xfrm>
              <a:off x="7388578" y="3115733"/>
              <a:ext cx="1648178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5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Silica Microsphere</a:t>
              </a:r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9A60831-36BC-F069-1FDB-416D3DD5C281}"/>
              </a:ext>
            </a:extLst>
          </p:cNvPr>
          <p:cNvSpPr/>
          <p:nvPr/>
        </p:nvSpPr>
        <p:spPr>
          <a:xfrm>
            <a:off x="9889292" y="4289925"/>
            <a:ext cx="312543" cy="2717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F8AF3F4-638A-D155-DEEF-94A027010476}"/>
              </a:ext>
            </a:extLst>
          </p:cNvPr>
          <p:cNvSpPr/>
          <p:nvPr/>
        </p:nvSpPr>
        <p:spPr>
          <a:xfrm>
            <a:off x="8153973" y="4425786"/>
            <a:ext cx="312543" cy="271723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A55A7DFB-7AAB-51CB-CBEB-6A1D309B8459}"/>
              </a:ext>
            </a:extLst>
          </p:cNvPr>
          <p:cNvSpPr/>
          <p:nvPr/>
        </p:nvSpPr>
        <p:spPr>
          <a:xfrm>
            <a:off x="7018638" y="4071551"/>
            <a:ext cx="240957" cy="27172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B08111C-1080-6C2B-CDB4-049B05E316D7}"/>
              </a:ext>
            </a:extLst>
          </p:cNvPr>
          <p:cNvSpPr/>
          <p:nvPr/>
        </p:nvSpPr>
        <p:spPr>
          <a:xfrm>
            <a:off x="5387546" y="3867665"/>
            <a:ext cx="240957" cy="376881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1552FEC-6210-C708-40E9-B5955217E029}"/>
              </a:ext>
            </a:extLst>
          </p:cNvPr>
          <p:cNvSpPr/>
          <p:nvPr/>
        </p:nvSpPr>
        <p:spPr>
          <a:xfrm>
            <a:off x="425241" y="1975945"/>
            <a:ext cx="3232312" cy="93270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Laser excites the tapered fiber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37C62702-47EF-B32C-ED27-C08E63E1E148}"/>
              </a:ext>
            </a:extLst>
          </p:cNvPr>
          <p:cNvSpPr/>
          <p:nvPr/>
        </p:nvSpPr>
        <p:spPr>
          <a:xfrm>
            <a:off x="425241" y="3172985"/>
            <a:ext cx="3232312" cy="1023870"/>
          </a:xfrm>
          <a:prstGeom prst="round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Evanescent coupling transfers light into the WGM resonator. 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CDC61834-B143-B099-AE55-8C33D6E876E0}"/>
              </a:ext>
            </a:extLst>
          </p:cNvPr>
          <p:cNvSpPr/>
          <p:nvPr/>
        </p:nvSpPr>
        <p:spPr>
          <a:xfrm>
            <a:off x="414778" y="4440666"/>
            <a:ext cx="3232312" cy="989255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3)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Environmental changes shift the resonance. 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0C5129AC-8B93-D566-D446-7652C91A6385}"/>
              </a:ext>
            </a:extLst>
          </p:cNvPr>
          <p:cNvSpPr/>
          <p:nvPr/>
        </p:nvSpPr>
        <p:spPr>
          <a:xfrm>
            <a:off x="414777" y="5644830"/>
            <a:ext cx="3232313" cy="1077218"/>
          </a:xfrm>
          <a:prstGeom prst="round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4)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optical spectrum analyzer and power meter detect the resulting signal.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CBE9F7D-F4DA-73FF-AFB7-761F69BE5A3F}"/>
              </a:ext>
            </a:extLst>
          </p:cNvPr>
          <p:cNvSpPr txBox="1"/>
          <p:nvPr/>
        </p:nvSpPr>
        <p:spPr>
          <a:xfrm>
            <a:off x="7779864" y="6109596"/>
            <a:ext cx="3423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Grivas et al., Single-mode tunable laser emission in the single-exciton regime from colloidal nanocrystals (2013).</a:t>
            </a:r>
          </a:p>
          <a:p>
            <a:endParaRPr 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B20912A-7286-EAE2-CFE3-E4385E6C341E}"/>
              </a:ext>
            </a:extLst>
          </p:cNvPr>
          <p:cNvSpPr txBox="1"/>
          <p:nvPr/>
        </p:nvSpPr>
        <p:spPr>
          <a:xfrm>
            <a:off x="11777222" y="6410893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4403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5" grpId="0" animBg="1"/>
      <p:bldP spid="37" grpId="0" animBg="1"/>
      <p:bldP spid="3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BBC1A38-81ED-6BFF-A041-EEF87F366DEB}"/>
              </a:ext>
            </a:extLst>
          </p:cNvPr>
          <p:cNvSpPr txBox="1"/>
          <p:nvPr/>
        </p:nvSpPr>
        <p:spPr>
          <a:xfrm>
            <a:off x="745958" y="713492"/>
            <a:ext cx="74234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for your attention!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29075F-3F03-2B7E-FDB1-D9274CBC2275}"/>
              </a:ext>
            </a:extLst>
          </p:cNvPr>
          <p:cNvSpPr txBox="1"/>
          <p:nvPr/>
        </p:nvSpPr>
        <p:spPr>
          <a:xfrm>
            <a:off x="757990" y="2913474"/>
            <a:ext cx="6894094" cy="33393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open to any and all feedback!</a:t>
            </a:r>
          </a:p>
          <a:p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Jacob Juca</a:t>
            </a:r>
          </a:p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jj8e@mtmail.mtsu.edu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DCC0DE-9893-A1DA-C39E-87A6289A9CC9}"/>
              </a:ext>
            </a:extLst>
          </p:cNvPr>
          <p:cNvSpPr txBox="1"/>
          <p:nvPr/>
        </p:nvSpPr>
        <p:spPr>
          <a:xfrm>
            <a:off x="11861800" y="6488668"/>
            <a:ext cx="228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899499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n&gt;8&lt;/mn&gt;&lt;mo&gt;-&lt;/mo&gt;&lt;mn&gt;10&lt;/mn&gt;&lt;mo&gt;&amp;#xA0;&lt;/mo&gt;&lt;mi&gt;&amp;#x3BC;&lt;/mi&gt;&lt;mi&gt;m&lt;/mi&gt;&lt;/math&gt;&quot;,&quot;origin&quot;:&quot;MathType Legacy&quot;,&quot;version&quot;:&quot;v3.26.0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n&gt;125&lt;/mn&gt;&lt;mo&gt;&amp;#xA0;&lt;/mo&gt;&lt;mi&gt;&amp;#x3BC;&lt;/mi&gt;&lt;mi&gt;m&lt;/mi&gt;&lt;/math&gt;&quot;,&quot;origin&quot;:&quot;MathType Legacy&quot;,&quot;version&quot;:&quot;v3.26.0&quot;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i&gt;sin&lt;/mi&gt;&lt;mfenced&gt;&lt;msub&gt;&lt;mi&gt;&amp;#x3B8;&lt;/mi&gt;&lt;mi&gt;i&lt;/mi&gt;&lt;/msub&gt;&lt;/mfenced&gt;&lt;mo&gt;&amp;gt;&lt;/mo&gt;&lt;mn&gt;1&lt;/mn&gt;&lt;/math&gt;&quot;,&quot;origin&quot;:&quot;MathType Legacy&quot;,&quot;version&quot;:&quot;v3.26.0&quot;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frac&gt;&lt;msub&gt;&lt;mi&gt;n&lt;/mi&gt;&lt;mn&gt;1&lt;/mn&gt;&lt;/msub&gt;&lt;msub&gt;&lt;mi&gt;n&lt;/mi&gt;&lt;mn&gt;2&lt;/mn&gt;&lt;/msub&gt;&lt;/mfrac&gt;&lt;mo&gt;&amp;gt;&lt;/mo&gt;&lt;mn&gt;1&lt;/mn&gt;&lt;mspace linebreak=\&quot;newline\&quot;/&gt;&lt;/math&gt;&quot;,&quot;origin&quot;:&quot;MathType Legacy&quot;,&quot;version&quot;:&quot;v3.26.0&quot;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sub&gt;&lt;mi&gt;n&lt;/mi&gt;&lt;mn&gt;1&lt;/mn&gt;&lt;/msub&gt;&lt;mi&gt;sin&lt;/mi&gt;&lt;mfenced&gt;&lt;msub&gt;&lt;mi&gt;&amp;#x3B8;&lt;/mi&gt;&lt;mi&gt;i&lt;/mi&gt;&lt;/msub&gt;&lt;/mfenced&gt;&lt;mo&gt;=&lt;/mo&gt;&lt;msub&gt;&lt;mi&gt;n&lt;/mi&gt;&lt;mn&gt;2&lt;/mn&gt;&lt;/msub&gt;&lt;mi&gt;sin&lt;/mi&gt;&lt;mfenced&gt;&lt;msub&gt;&lt;mi&gt;&amp;#x3B8;&lt;/mi&gt;&lt;mi&gt;r&lt;/mi&gt;&lt;/msub&gt;&lt;/mfenced&gt;&lt;/math&gt;&quot;,&quot;origin&quot;:&quot;MathType Legacy&quot;,&quot;version&quot;:&quot;v3.26.0&quot;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o&gt;=&lt;/mo&gt;&lt;mfrac&gt;&lt;mrow&gt;&lt;mi&gt;E&lt;/mi&gt;&lt;mi&gt;n&lt;/mi&gt;&lt;mi&gt;e&lt;/mi&gt;&lt;mi&gt;r&lt;/mi&gt;&lt;mi&gt;g&lt;/mi&gt;&lt;mi&gt;y&lt;/mi&gt;&lt;mo&gt;&amp;#xA0;&lt;/mo&gt;&lt;mi&gt;s&lt;/mi&gt;&lt;mi&gt;t&lt;/mi&gt;&lt;mi&gt;o&lt;/mi&gt;&lt;mi&gt;r&lt;/mi&gt;&lt;mi&gt;e&lt;/mi&gt;&lt;mi&gt;d&lt;/mi&gt;&lt;/mrow&gt;&lt;mrow&gt;&lt;mi&gt;E&lt;/mi&gt;&lt;mi&gt;n&lt;/mi&gt;&lt;mi&gt;e&lt;/mi&gt;&lt;mi&gt;r&lt;/mi&gt;&lt;mi&gt;g&lt;/mi&gt;&lt;mi&gt;y&lt;/mi&gt;&lt;mo&gt;&amp;#xA0;&lt;/mo&gt;&lt;mi&gt;l&lt;/mi&gt;&lt;mi&gt;o&lt;/mi&gt;&lt;mi&gt;s&lt;/mi&gt;&lt;mi&gt;t&lt;/mi&gt;&lt;mo&gt;&amp;#xA0;&lt;/mo&gt;&lt;mi&gt;p&lt;/mi&gt;&lt;mi&gt;e&lt;/mi&gt;&lt;mi&gt;r&lt;/mi&gt;&lt;mo&gt;&amp;#xA0;&lt;/mo&gt;&lt;mi&gt;c&lt;/mi&gt;&lt;mi&gt;y&lt;/mi&gt;&lt;mi&gt;c&lt;/mi&gt;&lt;mi&gt;l&lt;/mi&gt;&lt;mi&gt;e&lt;/mi&gt;&lt;/mrow&gt;&lt;/mfrac&gt;&lt;mo&gt;=&lt;/mo&gt;&lt;mfrac&gt;&lt;mi&gt;&amp;#x3BB;&lt;/mi&gt;&lt;mrow&gt;&lt;mo&gt;&amp;#x2206;&lt;/mo&gt;&lt;mi&gt;&amp;#x3BB;&lt;/mi&gt;&lt;/mrow&gt;&lt;/mfrac&gt;&lt;/math&gt;&quot;,&quot;origin&quot;:&quot;MathType Legacy&quot;,&quot;version&quot;:&quot;v3.26.0&quot;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ATHTYPE_EQUATION_MATHML" val="{&quot;mathml&quot;:&quot;&lt;math style=\&quot;font-family:stix;font-size:16px;\&quot; xmlns=\&quot;http://www.w3.org/1998/Math/MathML\&quot;&gt;&lt;mi mathvariant=\&quot;script\&quot;&gt;l&lt;/mi&gt;&lt;/math&gt;&quot;,&quot;origin&quot;:&quot;MathType Legacy&quot;,&quot;version&quot;:&quot;v3.26.0&quot;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F3A803BC-CCFD-4E21-9419-D468B405FF15}" vid="{836D8665-B83E-4A1D-98CA-33D4374000C4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4C7ADB6-2217-4DED-904C-438FAF73F18A}">
  <we:reference id="4b785c87-866c-4bad-85d8-5d1ae467ac9a" version="3.26.0.0" store="EXCatalog" storeType="EXCatalog"/>
  <we:alternateReferences>
    <we:reference id="WA104381909" version="3.26.0.0" store="en-US" storeType="OMEX"/>
  </we:alternateReferences>
  <we:properties>
    <we:property name="EQUATION_HISTORY" value="&quot;[{\&quot;mathml\&quot;:\&quot;&lt;math style=\\\&quot;font-family:stix;font-size:16px;\\\&quot; xmlns=\\\&quot;http://www.w3.org/1998/Math/MathML\\\&quot;&gt;&lt;msub&gt;&lt;mi&gt;n&lt;/mi&gt;&lt;mn&gt;1&lt;/mn&gt;&lt;/msub&gt;&lt;/math&gt;\&quot;,\&quot;base64Image\&quot;:\&quot;iVBORw0KGgoAAAANSUhEUgAAAGYAAABWCAYAAAA9pePPAAAACXBIWXMAAA7EAAAOxAGVKw4bAAAABGJhU0UAAAAs8vz+fQAABJVJREFUeNrtnW9EnVEcx48kmUQyycyYJElvJjOTickkc10mk0xGLzKTGdmLZBJJLyYTM0mSyJWZ6c0kSS9iL2YyiVx7kSSSXLmusZ1j5+F5bs89v3PuOd37rPv98qPc556f5/fp/Pn9znmeGLNXA7c4twluK9zOuFUZttHMbYzbuvx+hts5ty1uI9xqGZRTFdw6uPVzm5VBTHP7k2VbBm22cFsNaSPbjrjdBQLGrnOLcRvltsztl0bwPBvWaL+c2zi33wbtnnCrK2UoTwyCFWZNRPv13LbzbHuylMGIIWNB9pQv3E4NArenMXQdWUDfwWAWVKOERAVuigB+4rt2n9ug7EFM9rQfRPtpoAif/DNE4O7n+G5bVs8bk/NMGDyAyUNniqAdK3qbN3yluHUr2i8jwJwBQXjQVKuo2RyrO29FJ3rMPQ0f1LIZMhxmYiFD36b8TCSL7Ro+6gkfB8BwUaOKgGVC5ow53+ddmj66CDCHwHBR64qALWdd+9z32ZCBjxeY/M10jZhf+nzXtvpKNQuGfhYs86SSU1wRLAGsxgdw15cMVhr6ofKYaaAI6qMiWBsh16XkMtm0V1IJbDdQBLWnCJY3h8RyDG26ihFQMjmS0pJVAxGw2zJf8ZLIpTz9TBN+vgJFUAOKYH2X1yR8eUa+m1q7BJjXQBFUQhEsUfPq8f3emacPKrEU1gIUwRJJShEskRAey59nLPz0oxRjpnaiPLIof04y831+v5YIMPNAEdRbRbD8282PLP1Qm3E9QBHUpsbYn7D00Ua0709gITk0UYclRG5xy9LPG8LHNlDol2F0tpJ1tUb4GAOKoGY1eovtcaJyjV75ACiCShIBe+/Ax2PCx7lcskNSjcz+/JiO3hE+loEiqEEiYOuO/OwQfgaAIqgVImD9DnzolGFuAkWwDJNm6u3dSgd+ehl2K43UQQRs0ZEfqgyD3cosjTOzY0r56tDSjzjw0V5KYLbZ5e8iVjG73UqvV586GlYjr+oCLV+7CT9riu+KEtBxxFdtjcyu2n5BPUTAeh35eUX4GVH0tJ0I5zi1MvEW1Yw+lw3PscJUeamJP9dOqPcoyL7s3VGRGHaHWXD7wimYwwIklULfCDAVId/54CvTtEYISjxH+coZmCYiWEMOb+ac8JVdH5u5hOHUVnfYvweBdU6nWuklo48puRJVUfYesBUHMDZYtJ7BvEEM+c7BfFI4+en45kye64xKQVMsy0c1ertTMGVM/Rif67/UhCGUVVbcU5iiNnggFy0dMl4NTH1C1QmYh6ywm1WdBlDmiwxFLDpEUbfZML1wAmZC4SB1iTdMPW8ZhQRSdbK0phBzTDH0VE7uYtxOy7nns1wBVv8n93AlwVwFAQzAQAADMBDAAAzAAAwEMAADAQzAQAADAQzAQAADMBDAAAzAAAwEMAADAQzAQAADAQzAQAADMBDAAAzAAAwEMAADAUwpqAxgoqk6BZhnCE/xpHqcfArhKZ42FGB2EZ7iaJLRL4+YYXih96VK/I9o8TYP8Z5O8bKKJNN/s0dSDmtx2YZ4j2cVQmqvWmb+QiLKyNfv/wW395mYda4K1gAAAIF0RVh0TWF0aE1MADxtYXRoIHhtbG5zPSJodHRwOi8vd3d3LnczLm9yZy8xOTk4L01hdGgvTWF0aE1MIj48bXN0eWxlIG1hdGhzaXplPSIxNnB4Ij48bXN1Yj48bWk+bjwvbWk+PG1uPjE8L21uPjwvbXN1Yj48L21zdHlsZT48L21hdGg+TDJNHAAAAABJRU5ErkJggg==\&quot;,\&quot;slideId\&quot;:259,\&quot;accessibleText\&quot;:\&quot;n subscript 1\&quot;,\&quot;imageHeight\&quot;:13.76},{\&quot;mathml\&quot;:\&quot;&lt;math style=\\\&quot;font-family:stix;font-size:16px;\\\&quot; xmlns=\\\&quot;http://www.w3.org/1998/Math/MathML\\\&quot;&gt;&lt;mo&gt;&amp;gt;&lt;/mo&gt;&lt;mspace linebreak=\\\&quot;newline\\\&quot;/&gt;&lt;/math&gt;\&quot;,\&quot;base64Image\&quot;:\&quot;iVBORw0KGgoAAAANSUhEUgAAAFsAAABnCAYAAABvjj5PAAAACXBIWXMAAA7EAAAOxAGVKw4bAAAABGJhU0UAAABmZPVW8wAAAo1JREFUeNrtnEFk12EYx19JZiYmkyTRIR0mkQ6ZJCaTTEanpFuHDklikswkkiTpkk5JIumUrplMIplMdpskk5GZDkms7+P//tjxfZ6/9z19PnyOu3wOv//e53l/v5T6Z7fclqAJ5+WKnJZD5KgfeyO7Km/K7WSpH7tzXc7KHeSpH7vzt7wjd5KpfuzOv/J+/jGFyrE3R38k95Ithj2Xb+VHRmn0f/KJ3E++ttGfywPkizGco687opuv5UHyxaPPBqK/lYfJF8MOODOB6O/kUfK1jf5ejpMvHt2O9GvO6B/kBPliDOXov5zRP8sp8rWN/kWeI1/b6EvygtxCwlj0G4Hoy/IS0fuLvuqM/l1eTmyPQgzK6/KnM3q3PRogYbvo3faIlV0w+nQg+loeHwyT0I89Hq4FottU8rYcIWE8+ooz+h95T+4ioR/77+NqILptjx4mtkdNo9si47HcR8J49B+B6M8S26Nw9CuB6OZLOUrCWPRXgeAbnEZ9jMm5QOSvicli9cgL8iz5yjgWjGzboFPkK+N46u0svZHn8t9CYeT5QGS7NsEGv5ATwch2IegQ+coYz89Xb2QOK5Ujd8dwLnFWjGwDpgdyD/nKOBmIbPPqu4nRadXIvMcTiPzRGdk2NbaFZ8dYMbJN8WxDM0i+MiYCkb+l3mWcreQrw+YPn5L/mtnFxI2nYk4HIi8mxpwuJlPvqq/3avAk6XyRF5yR5/MPJlSMbO/QjJGunDOpd0ndE/mNPEK6cqYCkV8k3nt043l33SZwTxMTuKqx+UBAg9h2eZFPX1SOzbXcBrH5RlSD2N37K0zgKsN3/QAAAAAAAAAAAAAAAAAAAAAAAAAAAAAAAAAAAAAAAAAAoA/+AxENnK59OL1KAAAAinRFWHRNYXRoTUwAPG1hdGggeG1sbnM9Imh0dHA6Ly93d3cudzMub3JnLzE5OTgvTWF0aC9NYXRoTUwiPjxtc3R5bGUgbWF0aHNpemU9IjE2cHgiPjxtbz4mZ3Q7PC9tbz48bXNwYWNlIGxpbmVicmVhaz0ibmV3bGluZSIvPjwvbXN0eWxlPjwvbWF0aD66uXDBAAAAAElFTkSuQmCC\&quot;,\&quot;slideId\&quot;:259,\&quot;accessibleText\&quot;:\&quot;greater than\\n\&quot;,\&quot;imageHeight\&quot;:16.48},{\&quot;mathml\&quot;:\&quot;&lt;math style=\\\&quot;font-family:stix;font-size:16px;\\\&quot; xmlns=\\\&quot;http://www.w3.org/1998/Math/MathML\\\&quot;&gt;&lt;msub&gt;&lt;mi&gt;n&lt;/mi&gt;&lt;mn&gt;2&lt;/mn&gt;&lt;/msub&gt;&lt;/math&gt;\&quot;,\&quot;base64Image\&quot;:\&quot;iVBORw0KGgoAAAANSUhEUgAAAGYAAABWCAYAAAA9pePPAAAACXBIWXMAAA7EAAAOxAGVKw4bAAAABGJhU0UAAAAs8vz+fQAABetJREFUeNrtXX1kXFkUP1bVqFGqIqrWUhW1opYVFRUrrFgVMUJFVUWUWlUVUWr/qKootWpVVYmKqKgSoyqqloqIqAq1YkVFqeofUREqIkaMkr2He+W+1/fuufe9+z7snB9Hk87MPTO/k/txvu4ApMdxIYNC7gh5JmRLSNVxjB+FjAuZl69vCmkIeS3khpDDwIjFfiG9QkaETEoSd4TshuS1w5idQl5GjBGWdSGn2AQAbUJqQm4KmRHyyYI8Jdctxt8n5LaQrw7jfhHS3spGOetAVpScIMY/ImQp4dh/trJhcMmYljPlhZBNB+LeWyxd6ymMvsKLWRAd0kgUcXcJg3/RnvtByGU5g0DOtH+J8XfYFNGbf5Mg7nTMa7tCM29c7jNRxmPDJMCWgbQNw2xTy9e2kH7D+N8RhtliE0STZjpFTcac7tSJDmdMt4UO6tjMcFxmahFL36J8DJ3FHgsdRwgda2yGb3HTQFgzYs+Y0h4/Y6njDGGYz2yGbzFvIGwm9NyL2mOjDjqu8ObvhgPE/nJBe+5JLVQz7ahnOqWf1HIYNJCFBjukGXBVcwYrjnooP+Y+myKIRwayFiKety2Pya6zknJg+9kUQbw3kKX2kFrM0maLGmGUZoxT2rI4ThB2TPoryol8mlDPfULPKzZFEJcMZC3L59Q1PyNpUmuVMMw1NkUQdQNZGPMa0n7vS6iDcixROtkUwRDJtoEsdAg35M8PU+gZ4VCMG3qI8MgT+fNHcM/z63hKGOYxmyKIWway9HTzbyn1UMm4ITZFEIsWa389pY4uYnzdgWXIpYkqlkDf4oeUev4gdCyxKezDMDapZFvMETrG2RRBTFrMlrTlRPssZuUvbIogPhKEPfCgY4DQ0ZBHdoZEB6SvH7PBPULHDJsiiMsEYfOe9KwQei6xKYJ4RhA24kGHTRjmezZFMAyzA+b0bsWDnvPA2Uon9BKEPfGkhwrDcLYyhNvgVqaUFJ9T6sGCj55WMswSZJ9FrEK6bKWa1ZueltXS42BOx9d+Qs+c4bUYAtpotVPbEEHYeU96xgg9NwwzbaVgHwf9N2zOqssDSkPOcDwUYW01dtRhseM5SJcKCWAK8onyUht/XCZUtYJ8kLM7T/RJ0l36edBgmEA8muWGPO/xQ74lPtD+iNdMaGGakzka5JCcnWm67DAL/HuaKWoafNTjh20QusLxsYcZLKe2TvBqSqPoMpHkTVwFukzJF6iIsmqwxQKMBSimB7NNLpm7nsU5+PvcMNg7zx96M8EHynuzn8vAKEqGXcIwpjY+33+pdccP8hLyrcIcjXgPb+X/nwrtgRXp6I5Z7J27mv9lVX/3K+SbrOpzMMrjnI3SDsGWRiydGnAMadnsS1aZ2TvEiSILTADdb1mEA/kXBEu0ktQ0VIG+8WMDSpwEPCc394Z00HCKz8ol42AB76cKe5F1/PenFGNVLJY2TpsnOJle9zDeCeIEyvXYlljQTqG+lpkp4ArTVNADuDWP45oOVnWmnYaqo1v2PK7pfgQ2jAXuuTp/DngH2WaD/9e4IP+CszjCzgJf81VKxFUdnWVqikXclWJHmZpiEVVHscy0FI+oOr0xpqVYHIbolHMbU1MO/4iLGUuGRxGzhTf9goE+UfjW3FtMS/EIN2ZhM1iFaSkeC8D5l9KhG/w3EjM84B/NKG+Ar/QqBfQbq3Dzb2dKige2J6oqG6xl6GJKynE8fqPNlgGmpBzQS5+GmY5yQG/25QBlSXAa9joY2LMvCbB2TLUePmA6ygEMRq5BslvZGRkBfRN1EdIs01EOYPJLXXc/x159OYAVmyqHj82yVaakeGDIXkWMsZiC7+osAXC5+hv28iq+c/bYYt/LNLtD9aiugf/UsPoipA6m2Q3q4u/1DMjrlM7pItPsBtWSiN1uP3seG7+VXV16cZGptsddcPtWQhtgxzOmmLGgfEcbn2sBLGH6FkPfMsF02+FqjkZB6WbKaQznbBT+xnULDOZsFM7dWAC/pKiZs1G+AheXk3hVwGx5Hvdm/gMF2CXgwzwinQAAAIF0RVh0TWF0aE1MADxtYXRoIHhtbG5zPSJodHRwOi8vd3d3LnczLm9yZy8xOTk4L01hdGgvTWF0aE1MIj48bXN0eWxlIG1hdGhzaXplPSIxNnB4Ij48bXN1Yj48bWk+bjwvbWk+PG1uPjI8L21uPjwvbXN1Yj48L21zdHlsZT48L21hdGg+6TomcAAAAABJRU5ErkJggg==\&quot;,\&quot;slideId\&quot;:259,\&quot;accessibleText\&quot;:\&quot;n subscript 2\&quot;,\&quot;imageHeight\&quot;:13.76},{\&quot;mathml\&quot;:\&quot;&lt;math style=\\\&quot;font-family:stix;font-size:16px;\\\&quot; xmlns=\\\&quot;http://www.w3.org/1998/Math/MathML\\\&quot;&gt;&lt;msub&gt;&lt;mi&gt;n&lt;/mi&gt;&lt;mn&gt;1&lt;/mn&gt;&lt;/msub&gt;&lt;mi&gt;sin&lt;/mi&gt;&lt;mfenced&gt;&lt;msub&gt;&lt;mi&gt;&amp;#x3B8;&lt;/mi&gt;&lt;mi&gt;i&lt;/mi&gt;&lt;/msub&gt;&lt;/mfenced&gt;&lt;mo&gt;=&lt;/mo&gt;&lt;msub&gt;&lt;mi&gt;n&lt;/mi&gt;&lt;mn&gt;2&lt;/mn&gt;&lt;/msub&gt;&lt;mi&gt;sin&lt;/mi&gt;&lt;mfenced&gt;&lt;msub&gt;&lt;mi&gt;&amp;#x3B8;&lt;/mi&gt;&lt;mi&gt;r&lt;/mi&gt;&lt;/msub&gt;&lt;/mfenced&gt;&lt;/math&gt;\&quot;,\&quot;base64Image\&quot;:\&quot;iVBORw0KGgoAAAANSUhEUgAAA64AAAB9CAYAAACiRD5uAAAACXBIWXMAAA7EAAAOxAGVKw4bAAAABGJhU0UAAABLISoKhgAAIMJJREFUeNrtnQ+EVssbxx9rrWTFSpIkkiRZkSRXEitJsmJl5UoiuZIkcv0kK5ckSRJJslaWrGQlkWQla0mSZEWSK0kkWWut5f7O3Pe8d9+2MzPnvOfPe87M58P4/er2njnnmefM8505M8+IAIALXAvKPxFlNiiHMI9THArbNaq9r2EeAAA0ABoAfYA+AICy0RmUx5pO6ltQfsNETrI9bN+odn8U+gUAAKABAH2APgCAlrM0KC81ndPnoKzHRE6zIShfNO3/IijLMBEAABoA0AfoAwBoJarTeavplD4FZTUm8oK1YXtH+cFrghMAABoA0AfoAwBoFV1BeaXpjNQM2zpM5BXrRD+z+ir0FwAAQAMA+gB9AACF0RGUMU0nNBWULZjIS7YFZVrjF0+D0o6JAADQAIA+QB8AQFEMazofVfZiHq/pNfjGEOYBAEADAPoAfQAQzZGgTARlRmqzPWpmZx9maZrTho5nAPNA6Ac6HzmJeQAADYAGAPQB+gDgZ+4ZXpALmCcx2w32fIJ5/qUtKLtC/1L+9zEUS7Nh+REKpyvi9nIq3dEIc0HZgZsAABoADYAG8BL0AUAE5wwdbL0w6xqfrrAD1iViWO65fVT2xMuiP7dMV8aDstFBeywTfTKGv4VkDACABkADoAFc1QDoA4AEqBmvHzE6jDFMFZtBgx33e2wXdYbdVanNFDba5H1QTgRlVfjvloR/jvJLNQt70EHb7Df4zB1eKQBAA6AB0ADOagD0AUBM1ku8ma5pTBWLvQYbDntsF9XxRs0anguFUxTbIgJcvfQ5aKO7Bt/Zw6sFAGgANAAawFkNgD4AiMEGglZmLJba0o0o+30XP5cHqbTtNyLsoZYI9cT4/XnRHyPg2tl3K0T/5UMtO1vEKwYAaAA0ABrASQ2APgCIgZrpmokRtJ5hKit/Gex3ykN7LAv9JipgbUpwjVnxJ8EFWSgBAA2ABkAD+KkB0AcAMbgYI2j1YSYjqwzB/53ol8K4bI8PEj1rvy3htUYNfulapsG20F+innVW5vcAAQCgAdAAaAB/QB8AhKglBk+EVPhpuE3A/w+1fOeTZJeY4qTBtrcctN8Bz54XANAAaAA0ABoAfQAQGzWTo5YhvJbazI2aFXsobPqO20nrOpLXntlirehTt//V5DX3GOw7JW7OZL8W/dlt63nlAAANgAZAAzirAdAHAJAbQ0Lqe4VKHqBLTDGR4rqrxLyEzcVDuE3p74d45QAA0ABoAGc1APoAAHJBHaStS9c+6ZEd1CHYb0Q/I7omxbXbLUHrpKM2nRT9rOpqXj0AADQAGsBZDYA+AIDMuWToTP/wxAZqmY5pf9SJDOowBa1BR+36h+GZL/HqAQCgAdAAzmoA9AEAZEqH6M/VUn/vy7lalw0d6IuM6jAFrQce+teUcG4bAAAaAA3wAN9DHwCAnaOGjvSqJzboswSU7gKC1meH7XvF8NxHeQUBANAAaAAvQR8AQCImDJ3GRg+eXyVM+G6wwfWM6mmzBK0ph23cbXjucV5BAAA0ABrAS9AHABCbtUL6+3FLIFmWUT0dlqA147idXxmefR2vIgAAGgAN4CXoAwCIxYChszjtwfOfsQSSsxnWtcRS1z+O2/q04bkHeBUBANAAaAAvQR8AQCwmDZ2F66nIVVr7GTHvN+nMsL7fxO/Z1tWGZ5/kVQQAQAOgAbwEfQAAVjYaOooJD57/qSWIZD3bvJeg5f1eKgAANAAagIEr+gAAEnLW0En8z/FnPyD27H6LCq7zBz4HAAD0x2gA/BF9AAA/4+vslkqQ8NESQM7kUO9JS51fPfA5sgcCAKAB0AB+agD0AbQcld67JygXg3IvKJ+CMh2U2bCojGxqffrdoJyS2p6CVrApKBeC8rCAeq6GAaE9pv12B+WG1A64ngrtNh12rCNBORaUrozvUyUJmNN0EF8c99nTYk9J35lDvYOWeic86TO+aJ5/LvRLAEADoAHQAGgA/0AfQG6ol/psGKT+SVjUy7u24Vr94d8vzvge14X3+FbyXYqhUqWfkF/TeXcYftMeBvG49lN7HwYs10yC6bDtIcf99qvF1hdzqnvUUu+oJ33HsMEG++laAdAAaAA0ABrAS5zWB2vDh1AzaPfCzijpDMmGoJyX2gZt9fv6LNfzsLNbig9FomYHPxtmRf4OyuOgPAvtqnNCZfc7Mj/rl4W9V4bB4IXku4egIwy2D0Q/a6kLMDuC8qGJYK/Ky6CsyOD+bxrqOOiw7/7PYl/VlnllUvxsqXvIk/7jd4MNbtC9AhoADYAGQAOgAbzECX2gXvydQTkclFthRxeVvvp5gmuqtfsPY3QQ6pP1VvzoJ05pbPVIahnT2jUzXAfDNjLZe3uT96SW0BwVe4a4tEFLPVtvOCM0E6OuqKB1oclg1VjeSvplQ28M11/jqO92iH4ZSr2M5Fi3rV2veNKHrDHY4A1dLKAB0ABoADQAGsBLKqcPloWdwjmp7Yf4mOBFPhOz0/nLMDsWVb4FZTm+9C9HIuwzm3B2rk/0M7A9Ca6zKJyZGU3YnkmDlqqnP0Gg0gUtFbgfZxCw6uV+inZcLH4mB/gjhl135FT39hh1/+5RX2JaqtUp4CtoADQAGgANgAbwm8rog76UL/F6y/XV0oqJJq99ET/6175RnfbRJq61RRO4dsf8/XAYLJtpy6RB6/cUPlkPWmpmdDzDgFUve5tsy32Ga9512IcnLfZ8V7DgW1j2eNSfjOTg11Bt0ABoADQAGgANAJXRB2o5zlD40qg9A98TvLw2Z1PLgr6k6BxYvlab3cvSLn0pXtr6GVtqX9NtqS0fiytIkgat38IXpR6A1B6c8wmCVmdEwPoSXmNHw3VVZkG130plu/tb4u91aYZzUmwK+DKwU7L5YtMsQzHqX+FRf/KnwQ7n6G69BA2ABkADoAHQAFBpfbAuDGC2xr5kCYbfGv7te6ktF1jRMIv4WuzZ3HxmtcYu51Ned2GGtd4EgSSKOHtHskrMMByjLrXEqHFpkJohPiv2rICdYs8+Vy+bm7j3ex7O+N0Te0KGPJcD2vqYac/6lL1S/B6jvOmR7L+olLXcQwOgAdAAaAA0ABoAffArHWJfEqLrxNRylO8LOtl2TWAjaOk5Ifmkpl634Hp9GfiKbQ9KVkFrf4yAMrJALHUnuL7y0xcx6rjQxL2bvjy4uL9wqdj3QD3Osf4lMdrxiWd9iot7rBi4ogHQAGgANAAaAA2APjCmU/9q6BDrL+eUmNdFtxXU0VWV4Rxn5hpn0/szuN5oQW25NoHIG5PmMgBujnHt8SYCu29+fjyGHQ/nWH8cgXPdw37FtBS0o4LPw8AVDYAGQAOgAdAAaADP9UGbZabkVsRvVGbCejZC9fDbYtRhS4nvM7q9I1kEmUaxl0VGtcGCglZ7zIB1P+VLZjs+YDb037jslnyyFJaZMbEvEerKsf4bMfykz8N+xbQEdBcDVwauaAA0ABoADYAG8JJK6wPbEp7eiNmkZzK/ZjzOuWArLHV8YuYj1+xz9UOZj2RwrWtS3My5rSPKwj5nYtSzPsH1TBkSbzrou8ul9Ut03se4h5Ue9is3xa1jARi4ogHQAGgANAAaAA3guT44Z5lpWrhf5bYkX8ayx+JQnwlaWvtn8bLVZ6MuZHCtsyUKWlm8XHti1JNkudZVw3WOOOi7cVLQt7p88LRfOSxuLZti4IoGQAOgAdAAaAA0gOf64GmC2axGBz2ZoA7b+nffEzOM5zyj2Bte61oG17IdMF21oBVntjBJggxTZj0Xz88cqUDQuu1pv+JaZmEGrmgANAAaAA2ABkADeKwPVGapuZidQrfMZ5MbSliP7Xyld5470G2LfU6mvH572M5ZLFNxLWi1xajnQILrvZRslhtVAWW7qQoErV5P+5V1Bpu8Im4DGgANgAZAA6AB0AdV0gemTFyNm6lVcJuU+QOxFyWsx3a+0lVmPqwv3kBJ7tW1oJV1PaajAtoc89utMWz3IOd7eCP2xBqLPO1XTILM9y9cgAZAA6AB0ABoAF+prD4wbc4di/h3U+EoPQmLYzj2XhzovwyNpqJm8jYRtEobtHxLg38ihu0O5lj/ihj1P/S8bzEdc9Ih4DtoADQAGgANgAZAH1RGH7wT+9KU3pSdRG+M2ZB2/MeYiS5q4/RSglbpgla3ZHcWXBW4G+PdzrPzi5MU4rDn/YrpqIdNAr6DBkADoAHQAGgA9EEl9IHtcOc1UjurrX7A+HCT9Vy11PMY3/mPRwkC17egHCNolaoe15Lh2LCloM97idCDGEFzied9im+JQgANgAZAA6AB0ABoAAf1wVGxb8ytZwtTZ6w1O7s3aXGs0/jOfzQe6h63FL10iKClp1/8yWrXEcNux3OsXwWjOSlPZtayMijZJBwB90ADoAHQAGgANAD6oDL6wJTC+nx40/U/72qyjjjrzzfiOz+hss59keRZ025KMUuHCFp6jhmuccUxP/0tht26c6z/cIz6d9OdeHemIKAB0ABoADQAGgAN4Jg+sKWwVoctf5X0B9HaHOsLfqMNXJ+aCFxFLB0iaOm5Lv7sszhgsdl0zvU/sdT/N92ItQ++jnm8BQ2ABkADoAHQAOiDyuiD7YabVZ3lnfD/fwhKZ4p6hi2ONYjfaFEz1RNNBK76Mq8tBK3C6zGdxdfvmH+et9jsSY51r4rRZmfoQv7Fp6VrgAZAA6AB0ABoADSAg/pgwHCzjfsr0n5m/y7ZHersIx1insGzlaspRQdBK1k9pgx7+xzzzUGLzW7lWPc5sc/0kpChxj6Dne5iHm9BA6AB0ABoADQA+qAy+uBZjBc1bQa0LZbrNx5uDmbUsq1mlg3VZ8y3ErQKqWdU/Nlrcd9iszz3R9iSl1yiy/ip79DZ6T7m8RY0ABoADYAGQAPQr1RCH3SKPROXSiG9OmU9f1rqmMBnErfbpRhtpxMIWe17IWjpMR1lsMMxfxyz2Kw3p3r3xui7VtJd/MdO4WB2QAOgAdAAaAA0AFRUH+yP8ZJmMVth2zh9Hp9pCpW04YE0N/N6gaCVaz1vDddY7ZgffrPYrKdFwfIKXcRPmPYCTWIeL0EDoAHQAGgANABURh/cijFbsTxlHe1inxXcgc+kQiXXeNlE4PqToJVbPV8N1+h0zP+mLDbL41iGjZY6Z4SZ1oV0Guz1tWLP0iPN7/WrWsnz/EE0ABoADYAGQANAZfTBB0vDX8ugjn1i3zjdhs9kQn+MNl1Y0hxWTtDS88NwjQ7H/G7GYrP2HOocstQ5QHfwCx0FvasMXKszcEUDoAHQAGgANABUQh+si/GCrs+gniuWOshmmS2qgzgt9qUb9fKMoJVLPVMFd+KtxPY1JY++y1TnZ3FvRjurvkFnsykGrt4NXNEAaAA0ABoADQCV0Qe2DudpRvW8sdRzFH/5iQfhS5cWde6bbV9RWnFC0NIzU2An3mpsNsua2wX5gnjUVjMMXL0buKIB0ABoADQAGgAqow/uWRr+cEYdp82hV+ErvwQtZZc1GV3vVow2OEHQImilwLZMKEs2SOsOOicwMXB1aeCKBkADoAHQAGgAqIQ+aLM4mvpvizKo56DFwd7hJ9qgdTSHa+rKIEEr83pmPQpa3wsMWqaz8aYyFHsEJgauLg9c0QBoADQAGgANAJXRBzstTnYno3qGLfVcxU+0AWY0w2uqWe9pQzs0WxdBq7nruMYLy/NmlXhlh6We43QfTfvlHANXrwauaAA0ABoADYAGgMrog7+kmMOCP6es54jU0rz7GLTUbN3iDK97w9AODwhaBK0U2JYcZvHlRgU+07l4DwXwS0ADoAHQAGgANAA4pw8mxHxuWxYZzzrFfj6cqZ76jPD3jJy+akHrnzBoZ4XpoPlmZ1uPE7QIWgEXLc/bnUEd/zNc/0tQlhFzUvnlLKbxCjQAGgANgAZAA0Al9MESKSY1/V5pfgP1apk/vLmsGQfXST7pthuD1ssMr7tLst/fco2gpWXOo6C132KzPSmvrzJe6vbjqb/fRrxJ7d8zmMYb0ADVGbiiAdAAaAA0gPf64IDFwQ5mVM8pSz1nNb9Tg8E3GQfQLFkadtZzkk/K7YVJFHYWELSandW9LvaD5asUtNqEjILN0GWx2aGUbfKqgP6KwAS+gAaIJ5TPBGVEagmkVCybDd8TNRh7LrUjOfol+wlsNAAaAA2ABkAfNGA6/2gudMAssCVl2GXptN9LbWa4LLSHgey7ZD/DZwpaLzK6br+hzZtdYjEYo5Nvy8j2RQStZQStphkzPO+tFNc1zej/SZxh4ApogAzZFQ5KkyTPmg0HcCvRAGgANAAaAH2QPaZkCU8zrMeWZawj4jf15AFqlq67RI2plkF8kPyWppiCVlaZ0kY07XAzxTVtG/KzOotuTYx6DmVQz54Y9ZyNea0fCX2/6hwxPG+zy90OZdAOZUCJobthv6bE+IEW3UeHFLOkD8oNGuBXusJ3NE32Z3UUxzE0ABoADYAGqCCl1QfrLS/kyQzrmpZks3CNS07K8ul/s5hnX4sauE6H95Km3aP2W6ivx2lmib/F6OT3ZzRxYKvnQgb1nIpRz1DMa5nONXMx0YiaEf9keOblCa+nvnzMFtBP5U1bGLQXPkN/C+5lsaF9vhG3vQAN8CvqqJjJlIPWxnIDDYAGQAOgASpGafXBiQJmxurMWeo6E/67jfLzEoOLJWhA1ZHfluKSAdiCVj1r2sYmrqeWWun2B6Q58qA7ZhAfzMAm12PU8yyDeuIsEfsY81pfDdfodLTjM824nk4YsKY1s377K2aTw4ZAULR4MSXl+ULc9gI0wM+o1RDvMxy01ss1NAAaAA2ABqgQpdUH9w039jbjur430dm3OhmTEpLnxD5T3IqBa/2lTbIUaY0hYKWdsXoU00ZKvKQ5h09ll5yKWVdPinr2J/DTOO3+xPB7lzPg6fziU8yB2lGN4H0tta8GVcO0z6+v4HvZZLiX58RtL0ADxO+n05Zml66iAdAAaAB3NEBVKKU+UMtyZg03lvUs50jCTl4dHtzewkY7HL5YSmjuDO21VmoZBcsycG18gdXB36s011BLii5p2nsufNZmA8jhsP4kbavqVF+w9yRs4z4xLz2JWk6lNusnSS6yKPzNXMLnGRDz0hdTO+5yuPPrEv0h4bcNv1sh0XvMZsLJpPaK2sPkB8cLvhdTVtFRAddBA/zMyYh7eBH+/Vb5eR/ionDwdUrse3cbl+EuRQOgAdAAXmuAqlBKfdBjeRF3FGiEqKUkrXRKtSdFJRnYEPHfDpRw4LowIcSb8HevxZzJbjIMyEmCxucwAM9KNrPQqsP/GL4ImxbUt6qhLaZS1vEi9KvzEc+l6rkZ2mw2ZT0TYT17E4i2vY53gGr53bjov6jUZ02VMNwttWV10xqhs6ritrgj5fniajpXc4S47TxogHnUgKMxeY5aCrcvwe93Srx9sefRAGgANIDXGqAqlFIfXLB0fHkNCG2HU5fhcPGlltmjMg9c4xQVJNRMcdK09L9Lfsuoog6l7smhjqhsaHsk/z1NQyUasLQC5Wt/ijmzYlRR+80GHApWOvH+txS/x7VP0iccgeqCBpjnsvy8hHF1E9dQ+xQfWp7vaxNxFw2ABkADMGAtGvRBAyp75lg4mzITztypmTa1HGdJRZ6hyIFrFGomWiVlUIkUzoSze6NhMPreYNuZBhurgKqWCu3kfWwJJsF2yCM7LArfE/Xl8e0CX1UJih6H/qzE6wZHbbBwGdr7Fj2r6WiBG7yy4IkG6JT5r5Lqfzel7N9sS4ez+JKNBkADoAEAfQCVGbhC9TBl77yAebxDLU3cF4rYthbdwzkp5hgUgKr0zWcyuJ7uqJlmsqkCGgAAfQAMXKFw+g1+cxvzQAswHfHVj3nAE+pH76ivP20FvFuDmBwNgAYA9AEwcIUyQyIcKBs+JwsBUDSeVdib4XV76O8BDQDoA2DgClXFdDj7OOaBFvDU4JObMA94QP2szlcZX1d9uZ1jkAJoAEAfAANXqCIdkizLIUDemLI7dmAe8IArkl9yHN3ZlXcwOxoADQDoA2DgCmXHdJ5eG+aBAmkz+OIM5gFPUDF7JKf+d1Tzfl3E7GgANACgD4CBK5SdCYPvbMQ8UCDrDb74EvMApOae+HtmJ6ABAH0ADFyh4gwbfKcX80CB9Bp8cRjzAKTmgeb9Wolp0ABoAEAfAANXKDsXhHOxfEftDVEZR49ILd38ny26j+PCmYIAeRL1de0VZkEDoAG8RS3B3RqUY1Lb6/4+KL9ZfqP8YlJqS3TV0V1FfJlHHzBwBfiXA8LZfr4Ep9VB2RP2CVeltmzwc0S7t2rgOmjwxQM0IUBqovYznsIsaAA0gDesklrmcqUBngVlVn7dL6rb26w0xMsIP/kq+a/aQB8wcAX4l60G33mGeZzgkaGNo8rmFt2nKdX9FpoRIBVLI94rJVqXYRo0ABrAadQy25FwgGmL/6Oaa2wLyhfD7y6jD4CBKxSB6Ww/MrW5gRqI7pbaAd0HgzJk6C++tvA+ddkt54TslgBp2R/xbl3FLGgANIDzqGXA6ovl9aDcDMpzgwY4E/H7nUGZsgx436APgIErFMVrg/+swzxOopu9bFWSgzUGH2QPHkB6bsqvX1tJygRoAD+5rmnvbQv+nfrzD7F/qf2GPgAGrlAUpi9wHJPgJrrsov0tup8+gw8O0VwAqVBfJBYu8xvALIAG8JaomDu94N+slfnlxcpH9klt+XiUnzxAHwADVyiKowb/YSmZm0xr2ntpi+7nksEHj9FcAKnYt+Cd+hCURZgF0ADe0h/R1iMN/70rKO/Cvz/d8Pfq62fUF9h96ANg4ApFsVlIzuAT3VK+Q7zHpHzJogBcYeH7tQOTABrAa6KOQWo8/uh++HcXI367t2Hwqva+HkcfAANXKBK1jEy38V3tg2rHRE5xWtPWf7Xoftrl15T8uqVLAJCMbQveqUuYBNAA3jNmGASeCP/81BK3l0j+iZHQBwxcASK5b/ChXZjHKXSJmXa26H56DL53j+YCSEXjuYvjDEIADeA9qg9YmEn6R/jf1oWTGCrZUhmSt6EPGLgCRHLa4EPnMY8zLJHoow/UzGWrUsoPGHzvFE0G0DSNexdVcqblmATQAN7TK/oTBcZKNnZAHzBwBYik2+BDLzCPMxyQ8s1cThh8bwNNBtAUq2R+H5qamNqCSQANAAHXJDrJUT1h05MS3Sv6gIErgJbPoj/guQvzOMGwlCszX5eh7/pEcwE0hVo9MS7FZPwENABUi3cRbawmLv6W2n7StSW5T/QBA1cAIzcNfnQI8zghZnUHia9u0T39bvC5GzQZQFNcpu8GNABEsDaibdVZrSelfMvC0QcMXAGM7DX40X3MU3l2aNr2XQvv6a6QEAQgSw4Ke8AADQDRHItoWxWHP0rti3tnie4VfcDAFcCI+iL3XfQp8RdjokqjO8S7VQfMd4g+zf03aV2yKICq8pvU9rOqd2gAcwAaABYQlT26vo/0RInuE33AwBUgFreEpUKu8kbTrq3a/2ZaBnST5gJIxHqpLflT7881zAFoAIiYmJjVTEp8LNlgEH3AwBUgFtsNvvQE81SWVVK+w+UfGXxtO00GEBt13uKn8N0ZwhyABoAITGeiHi/ZvaIPGLgCxOa96DMLrsI8leSYpk0ft1Boz2nu6T3NBRAbdTbrh/DdGcUcgAYADbrtQmqlRkeJ7hN9wMAVIBFnDP7EvqlqMqppz9Mtup9zBh87Q3MBxGJpUF7L/NewdkwCaADQ8FrTpn+V7D7RBwxcARKxTPSb4tU5X2yKrxbthvbc2IL7aQv9SLd0eRlNBmBlicwnVXku5coGCmgAKBcrDOOENSW6T/QBA1cGrtAU1/EpZ+jVtOOXFt3PQYNvXae5AKwsCspY+M68CkoXJgE0ABg4rGnLpyW7T/QBA1c6GGiK9QafeoV5KoXuUPnBFt3PS4Nvrae5AIyoFRT1xCVqb2vWXyCGg7ITM6MB0ABOMaxpy6Mlu0/0AQNXBq7QNPcNftWDeSrDO00bHmjBvZiyGo7QVACx+2WVRXhlxtc+El57HWYGNIAzqOW3PyR66W2ZthigDxi4MnCFVGw0+NUE5qkEumNwVMa+Lk2AyzP5wbjBpzbQXABG7sj8Mv+sB5eqv58OyjPMDGgAp9AdcfSgZPeJPmDgysAVUjNs8K19mKf09Gvablzz728E5ZvUjtjImr0GX7pDUwEYuRG+K9+DsjnjaytR+Dm8/hFMDWgApxjQtN+hEt0j+sAz2hi4Qk6obHO67IKTQnbBsnNb4qeUP5Zjn6H85K3oMwWupqkAtNTPX1RfRLdndE11buOOoFwMykzD9RdhbkADOMWERK+6WlKiMQz6wDOWGwauhzAPpOSCcKZWVXmmabeFX2zqs533c7qPU8K5gADNYDrTMOtyA3MDGsAplmja7WGJ7hF94CEHDI1+CfNAShaL/lwtteF/BSYqLVOadmucJVfLvdSsploquDSHe1gu0Ykh6llR+cIDEM2JAgetqmzD5IAG8GJ8cKwk94c+8JQxQyCaxDyQAXuEbG9VRNdm3VKbiT0v88uGtud0D3cN97GbJgKI5FDBg9Y3mBzQAM6h2y60siT3hz7wkIsxApI6tJd9CJCWQYOP7cc8peRHTNGaV0KWPkOdt2kegEj2FzxoVeUUZgc0gHN8jmirlyW5N/SBB6hlPLuC0iu1PQcfEgQl9W8vhZ2Luob6utKJSSEByl/ea/xLZaJdiYlKx/0WCtbloV/o+iP6H4BfUV+2ZgsetKoVF8swPaABnGKTpq3Ol+De0AcesDSHYHUNs0JCNhtEFef/lY8dhvdfHavRl2PdT0WfJXALTQMQyWMp/mvrfcwOaADnOK1pp60luDf0AQAUxjEhGViVUF9wnkvtqAtVXkgtU+nSHOu8ZPCRozQJAAAaALwEfQAAhXNdODsYovldzPvtAQAADQDoA/QBABTGQ9Ev9diJebxkh+iXkT3CPAAAaABAH6APAKBo1Ob5Z6JP1MA+Bb/YJPpkC8+FZAsAAGgAQB+gDwCgRXQFZVzTGX2R2nmh4D7dYXtH+cF46CcAAIAGAPQB+gAAWsYSqc2YRXVKX4VZV9fZHLazbiZ1CSYCAEADAPoAfQAAZWBRUEY1ndOPoPRgIifpCds3qt1HQ78AAAA0AKAP0AcAUCouB2VGUw5jHqc4Ymjry5gHAAANgAZAH7ioD/4P75Dy1zQ6qpYAAAE4dEVYdE1hdGhNTAA8bWF0aCB4bWxucz0iaHR0cDovL3d3dy53My5vcmcvMTk5OC9NYXRoL01hdGhNTCI+PG1zdHlsZSBtYXRoc2l6ZT0iMTZweCI+PG1zdWI+PG1pPm48L21pPjxtbj4xPC9tbj48L21zdWI+PG1pPnNpbjwvbWk+PG1mZW5jZWQ+PG1zdWI+PG1pPiYjeDNCODs8L21pPjxtaT5pPC9taT48L21zdWI+PC9tZmVuY2VkPjxtbz49PC9tbz48bXN1Yj48bWk+bjwvbWk+PG1uPjI8L21uPjwvbXN1Yj48bWk+c2luPC9taT48bWZlbmNlZD48bXN1Yj48bWk+JiN4M0I4OzwvbWk+PG1pPnI8L21pPjwvbXN1Yj48L21mZW5jZWQ+PC9tc3R5bGU+PC9tYXRoPopRwaQAAAAASUVORK5CYII=\&quot;,\&quot;slideId\&quot;:261,\&quot;accessibleText\&quot;:\&quot;n subscript 1 sin open parentheses theta subscript i close parentheses equals n subscript 2 sin open parentheses theta subscript r close parentheses\&quot;,\&quot;imageHeight\&quot;:20},{\&quot;mathml\&quot;:\&quot;&lt;math style=\\\&quot;font-family:stix;font-size:16px;\\\&quot; xmlns=\\\&quot;http://www.w3.org/1998/Math/MathML\\\&quot;&gt;&lt;mfrac&gt;&lt;msub&gt;&lt;mi&gt;n&lt;/mi&gt;&lt;mn&gt;1&lt;/mn&gt;&lt;/msub&gt;&lt;msub&gt;&lt;mi&gt;n&lt;/mi&gt;&lt;mn&gt;2&lt;/mn&gt;&lt;/msub&gt;&lt;/mfrac&gt;&lt;mo&gt;&amp;gt;&lt;/mo&gt;&lt;mn&gt;1&lt;/mn&gt;&lt;mspace linebreak=\\\&quot;newline\\\&quot;/&gt;&lt;/math&gt;\&quot;,\&quot;base64Image\&quot;:\&quot;iVBORw0KGgoAAAANSUhEUgAAASkAAAEKCAYAAABOoaMaAAAACXBIWXMAAA7EAAAOxAGVKw4bAAAABGJhU0UAAADPy/9NvwAAEB5JREFUeNrt3Q9k1fsfx/G3mUxmTDJJ4romSS7Jlcw1MslkRuZKksiVZBJzXZkkMrmuJCaTTGImSfIjmclcI0kmE5n8ZDJmZjIT/T7ve77fe07n9z2fz/ff+Z7v2Xk+eLvdu3O+n3s/n53X/X6/5/P9fETqy4+m+k3dMPXI1Kqp1ojH2Gvqmqkp7/0bpr6YmjF1xdQ2AQCHLaa6TZ0xNeYFyrqpb2U1E+GY+0w9CzhGeX029TNDAMC33VSfqWFTE6Y+hggSv4ZCHL/Z1HVTXyMcd9lUB0MD4ESE4AiqPY7j7zA1G/PYIwwPAL2sGvfOoJ6aWokQIu9DXN59ThCAcwwPgCCdXmC5QuSmI/yWS177wdR578xKvDOwt47jrzMUACrRG+cbjhA5XOG9B8vOyPSbvOYKQUZIAYht1RIgS5azMP8Sb81Ur+X4TY6QWmUIANgCxPZt3FjAe/RbQv+bQT2TOhSiDddUBAAI5LoU6wu4PHzp/UwnZnaFaGOHo41PDAOASoYt4aH3qsrvMd0r+fmxkG0cc4TUIsMAoJIpS3hMlL32bMnPBiO0cUG4cQ4ghq1ivx91quS1+6X4uMx4xHbGJdk8LAANqt8SHBpe7SVhNi/FiZctEdtxzZO6xVAACHLXEhzTAa/TqQadMc7WXJNFexkKAEHeW4LDv+fUV+HyL6w+R0AF3ZwHgH/Wi7KFxw9SmA/lT9h8GLOdW452njMUAIKcswTHG+81k1KcxxR3gbp5R0hdZigABJm0BIc+gzdQ8vc9MdtwTeLU2sdQACinj6msWYJDJ18ueX++k6CdM8LjMABi6BL7IyoPvD8vSPR1zUs9dITUfYYCQJCrluAoXVL4aMJ2XAvrDTAUAIK8FPe9osmEbRx0HL90sigA/KtV3Bsl6Nyl3Qnb+d3RxixDASBIvyRbLjisF442rjEUAIKMhTiLSrrFVHOIs7VfGAoAQRYc4XE7hTaOO9rQxfKaGAoA5Tol+f56YfzlaGOCoQAQ5LwjPKZSamfO0c45hgJAkEeO8DiTQhthHoXZxVAAKKf3gNbFvoRvSwrtnBRW4QQQQ7cjPB6k1I7rURhW4QQQ6LpE27oqrsWE7ehmD10MF9B4ZqX6q2O2SrJVOP2zvZWULj0B1Ik2yWZKQK+jnReW9+pjOP7yMHn99q9Tkq0KAaCCAUd4nEypnUuOdq5YzsDmJL9zqHRVUp3kqrPoT/HrBKTvnmSzGoHrpnmlFT6fej//4J315YVemg7J90vOEFJAFdhuZk+l2M4rR0htCXjPqBQfldmfoz7TB7GDHiEipICU7XEEx2CKbX1xtFX+vN6dKlxyJnXA1IyE29UZQAouinvrqrS4Vj4Y8l6nmy9Ml/zzkRz0007HZTEhBVTJY8sH7l3Kba2E+JDn7WFjneowHOIskJACqkAvrzYsH7i0z2AmIwbUM6nt7sX6rKJuPKE3/Lu9/tJNU98TUkA2jki2C8/1RAio+zUOKL1hrw9c7w342QAhBWTjhuXDtlbFD78tnFYlH5M1bTsytxNSwOb2qxRujOt9Hl1dQe9VPZHCN4ltdfLfQEgBIKQAgJACQEgBACEFAIQUAEIKAAgpAIQUABBSAEBIASCkAICQAkBIEVIACCkAIKQAEFIAQEgBIKQIKQCEFAAQUgAIKQAgpAAQUoQUAEIKAAgpAIQUABBSAEBIASCkAICQAkBIAQAhBQCEFABCCgBS00RIAcizDktInaZ7ANTagCWkbtI9AGpt2hJS83QPgFoasQSUX3ekcN8KAKrqkKkeU32mbphaCBFQfi14l3793jG6TLXSpchAu6lrpkbpis1tW4RAClu36VZUUZupYVNr3u/bKl0CIA/0DP2KqZWy/ykSUgBqaqupP0wtVzhzJ6QA1ESLqcumlhy3FwgpAJnaYuqSqUUJdw+UkAKQiWZTgxHCiZACkAmda3fB1H8l3rfJhBSAqoXTb6Y+emHz1dRLU3elMPduhpACUEvvvJB5Zeqiqe0BrxkjpADUik7I3Ot4TQchBaBezrgIKQC59JiQApBnjwgpwG6nFCYYgpACcknXc9cJhkPCMjSEFJDTkPI/EPocmT6J30a3EFJAHkOq9INxVQrrcYGQAnIXUn7pwmu6mmkH3URIAXkMKb82TP0phZvsIKSA3IVUaVjp8sm76TZCCsiK3ne6JsU1tcOUPiyrD8p20n2EFJD3sHpgag/dR0gBWfG3UlqVaOse6YdtP91HSAFZhtXVGGH1zNQBuo+QArLi7wMXNaympLAxKwgpINdhpatRHqH7CCkgy7AK2sTSVX+bOkr3EVJAVvwdd5cjhtVrU/10HyEF5D2s3po6SfcRUkDew2re1Gkp7K5CSBFSQCZh9UeMsFowdb4Bw4qQAmocVksRw0o30dQtoBpltVBCCqixraZ+N/U5Ylj5q4W2EFIA8hxW/mqhm3VpY0IKyGFYDcUIK52XpY/ptBNS2flGURWqEehl3OUYYaWrNFyX4G3LCSlCiiKkqhZWixH7aN3UTVM7CClCiiKksqDf5l2KEVa6Wugtqd/VQgkpipBqkLDSBfhGTf1ASBFSFCGVZVh9ihFW41I/q4USUhQhtQnCajBGWGlNmNpHSAHIKqwmY4Z+nmevE1LAJnDY1HSMcHon+V9pgZACGjCc3pg6wT0pANXSFTOcdPXPY3X230pIAXXkFymsiR41nKa999YjQgqok3CaiRFOun1Wve9IQ0gBOdYdM5z0g/3TJukDQgrIId3i6u8Y4VRPkzQJKaBBwsl/3KVzk/YJIQXUaTjpg8N/mdq1yfuGkAJqqCdGOOl6USNS/0uwEFLAJgsn/TDqypvbGqyvCCkg43CajRhOujKn7irT2qB9RkgBOQ0nXdVAV+Tc2uB9R0gBVXQ0Rjh9lMImoM10HyEFVIs+H/cqYjjpdurnpHG3UyekgAz0xginOcn/cimEFFDnjpt6HTGcXnvvg90TQgpIFk5vIoaTPovXQ9eFNk9IAdmE05QUFqlDePrN5ldxPxbEfTzA02fqbcRwemrqIF0Xy9mQfdxNV6HR9ccIp4em9tN1senk1Q8h+/o53YVGdkqirUhwXzbvigRZ6ZDoyyPf5rIPhJR9RQL9kOymu2Jrl8IUDu3HNYm3NdeCqWEpfDGxhS4FISWybupPUzvppsj0SwTdKn7Z68dqbCK77h1f2zlBl6ORQkr/T3/d1Ha6J7Yjku2u16focjRCSC2ZumKqjW4BkKeQ0suFIWFFAgA5pPebuAkLAAAAAAAAAAAAAAAAAAAAAAAAAAAAAAAAAAAAAAAAAAAAAAAAAAAAAAAAAJvNj6b6Td0w9cjUqqnWiMfYa+qaqSnv/RumvpiaMXXF1Da6GYCLbqPdbeqMqTEvUNZNfSurmQjH3GfqWcAxyuuzqZ8ZAgC+7ab6TA2bmjD1MUSQ+DUU4vjNpq6b+hrhuMumOhgaACciBEdQ7XEcf4ep2ZjHHmF4AOhl1bh3BvXU1EqEEHkf4vLuc4IAnGN4AATp9ALLFSI3HeG3XPLaD6bOe2dW4p2BvXUcf52hAFCJ3jjfcITI4QrvPVh2Rqbf5DVXCDJCCkBsq5YAWbKchfmXeGumei3Hb3KE1CpDAMAWILZv48YC3qPfEvrfDOqZ1KEQbbimIgBAINelWF/A5eFL72c6MbMrRBs7HG18YhgAVDJsCQ+9V1V+j+leyc+PhWzjmCOkFhkGAJVMWcJjouy1Z0t+NhihjQvCjXMAMWwV+/2oUyWv3S/Fx2XGI7YzLsnmYQFoUP2W4NDwai8Js3kpTrxsidiOa57ULYYCQJC7luCYDnidTjXojHG25pos2stQAAjy3hIc/j2nvgqXf2H1OQIq6OY8APyzXpQtPH6Qwnwof8Lmw5jt3HK085yhABDknCU43nivmZTiPKa4C9TNO0LqMkMBIMikJTj0GbyBkr/vidmGaxKn1j6GAkA5fUxlzRIcOvlyyfvznQTtnBEehwEQQ5fYH1F54P15QaKva17qoSOk7jMUAIJctQRH6ZLCRxO241pYb4ChABDkpbjvFU0mbOOg4/ilk0UB4F+t4t4oQecu7U7Yzu+ONmYZCgBB+iXZcsFhvXC0cY2hABBkLMRZVNItpppDnK39wlAACLLgCI/bKbRx3NGGLpbXxFAAKNcpyffXC+MvRxsTDAWAIOcd4TGVUjtzjnbOMRQAgjxyhMeZFNoI8yjMLoYCQDm9B7Qu9iV8W1Jo56SwCieAGLod4fEgpXZcj8KwCieAQNcl2tZVcS0mbEc3e+hiuIDGMyvVXx2zVZKtwumf7a2kdOkJoE60STZTAnod7bywvFcfw/GXh+HbP6DBDDjC42RK7VxytHPFcgY2J7WdQ6Xzw4ak8GC13tz/4p356RcKq6ZmpLAx6q+SbPkaAAHuSTarEbhumlda4fOp9/MP3llflnq8APoWoTS8dDHAnfxqAemw3cyeSrGdV44P95aA94xK8VGZ/Rn2Sbt31vYtQenqpr/x6wUkv4yxfdAGU2zri6Ot8uf17lThkjMMnXDq2iAiSo3yawbEd1HcW1elxbXywZD3Ot18Ybrkn49k2B/bvcvKbynXbX7VgHgeWz5Y71JuayXGhzvrG+UvJP2A8us0v25ANHp5tWH5UKV9BjMZ8UP9TLLdvXgw4N/hlffPf5bv75npPC2dVHpJ3Pfa/NKQ3savHRDeEcl24bmeCAF1P+OA0oX8VuX77bSOR3i/TjQNcx+LFUeBCG6I/Zupahh1fIg1KGoxWfNP+X7brjhruLd6Z3+2/74lYUE/IPd0wqPeGNdv+9a9y6An3mVVWw3+fVqluAKE/vWnBMdqCXH5x9LIACIp/YZzKIXj6bQO2zeZl+lyAFH40x3epXgpZpvFz87MAEIrfbi6L8Xj2r6UmKTbAYTl7zP4JuXjNlku+QgpAKH5O9dUY6LlO6nuKqcAGsAp78ymGtMCnkg2k2QBIJZKu++coGsA5MHTCiHFOlMAciFo3fg3dAuAvAjax/AS3QIgD7ZJ8LLC2+kaAHnQL2x8CiDH7gacRXHDHEAu6Jyrz2UhdZVuAZAXx8sCakHYcRlAjkwL60cByKlDZQF1ky4BkCevSwLqb8l2nXYAsDon32/k0EGXAMiLXVLcbUbXbj9IlwDIiybv0s4/izpOlwDIk9LtsNilGECunBQeHgaQU4elcP+JGeUAckf31lvyAuo23QEgT/RB4U9eQI3THQDyROc+LXgB9YTuAJAnupDdWy+gXgizyQHkiO507K9ZPmOqlS4BkBe6zIq/soFupNBOlwDIC72k+48U14VKe43yh6a66WYAcT32Akq/zUt7+d+z3rE76WYAcTyQ4ooGaQfJPilMBH1JNwOIY9QLqBVTB1I+9l5Ti97xz9LVAKK6KcUlV7pSOuYWKSwjPCLFTUP1+Kx9DiCSYfn//fKqVaN0N4AoLmYYUFqH6HIAYZ3OOKDm6HIAYfVnHFCsPQUgtGNS2AI9y4D6KulPCgWwST2vwVnUY7od9eh/+CkK/C9r9n0AAADldEVYdE1hdGhNTAA8bWF0aCB4bWxucz0iaHR0cDovL3d3dy53My5vcmcvMTk5OC9NYXRoL01hdGhNTCI+PG1zdHlsZSBtYXRoc2l6ZT0iMTZweCI+PG1mcmFjPjxtc3ViPjxtaT5uPC9taT48bW4+MTwvbW4+PC9tc3ViPjxtc3ViPjxtaT5uPC9taT48bW4+MjwvbW4+PC9tc3ViPjwvbWZyYWM+PG1vPiZndDs8L21vPjxtbj4xPC9tbj48bXNwYWNlIGxpbmVicmVhaz0ibmV3bGluZSIvPjwvbXN0eWxlPjwvbWF0aD70bxBmAAAAAElFTkSuQmCC\&quot;,\&quot;slideId\&quot;:261,\&quot;accessibleText\&quot;:\&quot;n subscript 1 over n subscript 2 greater than 1\\n\&quot;,\&quot;imageHeight\&quot;:42.56},{\&quot;mathml\&quot;:\&quot;&lt;math style=\\\&quot;font-family:stix;font-size:16px;\\\&quot; xmlns=\\\&quot;http://www.w3.org/1998/Math/MathML\\\&quot;&gt;&lt;mi&gt;sin&lt;/mi&gt;&lt;mfenced&gt;&lt;msub&gt;&lt;mi&gt;&amp;#x3B8;&lt;/mi&gt;&lt;mi&gt;t&lt;/mi&gt;&lt;/msub&gt;&lt;/mfenced&gt;&lt;mo&gt;&amp;gt;&lt;/mo&gt;&lt;mn&gt;1&lt;/mn&gt;&lt;/math&gt;\&quot;,\&quot;base64Image\&quot;:\&quot;iVBORw0KGgoAAAANSUhEUgAAAcwAAAB9CAYAAAAvOlPiAAAACXBIWXMAAA7EAAAOxAGVKw4bAAAABGJhU0UAAABLISoKhgAAFkZJREFUeNrtnX9k19sfx18ymWRMJklirkmSSK4kibkyk4xJrklikiQTcyWTRDK5kkgyc2VkkplEkiQTkyTJJZkrk0gyMxP3+3l9P+dz76fd93m9z/v9Puf945zng/NP2vu8P69z3ud5frzO60UEQDKu18rfEWW5Vo7CPN5wVLVpVFtfh3kAAEDP2lp5pBlAv9TKHpjIO/aqto1q84eqTwAAAGhiXa281Ayc87WyBSbylq218knT9rO10gETAQBAHR4Q32oGzI+1shkm8p6fVFtH9YHXEE0AACBqr5VXmoGSVx1dMFEwdAkrzVeqrwAAQJCsrpWnmgFyoVZ2wUTBsbtWFjV94kmttMBEAIAQmdAMjFx6YZ5gOST0iz9gHgDKz/FaeVErS2oGzLPdgzBLas4Kg+IFmCd4Lgj94wzMAwqGjwcu1spNmOK/3BM+3sswT2L2CvZ8DPP8n1W18ovqX9z/5tREbVmVb2rS9jv5u3Wtu2L0vVb2oYuAAmirlRGqHxn9rb5D0MSIMLg3ClaayWZmc6R38lkfuH3YI/gq6e8m6spMrWzzzBYdpHcC+ovgBATyg+8Dn6+Vryv6IQRzxSz/m8Fg9RSmMmZcsGNfwHbhe6jX1Oqp2Sbva+V0rWxqmuGe1vRLXnn+6pld+oT+cgefE3DMmlo5J0xgIZhNbDGc3S/CVEb0CjacCNgufZqV1IiatEWxO0JcG6XfM/vcFfpNDz4r4IBWqvtZfI4Z+yGYTWyFYFqdqf2lsR9vc4S4FctXJG5SdBjAboO/v0j6Kzk+3V/dQPqdnjk1uAFgA77qNkT16GImYz8Eswme3S8ZGO0ZTBXLJcF+QwHao0P1myix3JHgGbrg5b45T8GrGrievJ5JIJQQTA1XDIzWDzOJbBImHn+SftvRZ3t80OxU7E74rCmhX/rkPbtK9RVdFptN+MxAyn51ivS7XxDMhLSq2TqulaRnDJONf+CtUl3M1DROT2cE2972zHaHA/qtwL1QnqB/PfbZH4B3fG7VymitPIdgZjMubwm9VrNZXgk8IDgcmAqErrO9DswWHGBcd03iUspn9gj2XfBw9f6a9HczkdEGmNJI9sDZcNjrPCq4/20IJsibPwjXSBh2XNFt+7zI8NxNMR+0bxf8pWsmCJsHTGEP9K0x/2c9BBPkyWbSX314F5Ad+IL9G2EV2Jnh2S0xH7SPYeTeCatMpIIDLlaiEEzgnFGho50MxAa8JSqdgZ+2UIf0QY97aNOTwu8dxWcHLHIfggnyYDXp787xv4dyd+6q8LHNWqpD+qCnA+tbC4R7mcAe9yCYIA8GhU52LRAb9Md8bNtzEMx5T237u/CbBz36nRvVBAFAMIHHvBA62bYAfj8743wVbHDDUj2rYj7oBU/tu53kQPS+MKAmPcNUDwAOIJjAM34iXCWZiRGxDkv1rI75oJc8tvEr4Xf7EhpwoOk3cVxTzpjRhiEGggn8QUr+ezaA3z8c85Gdt1hXG8W7vvtKCOHyBjSDNP++dRhqIJig+rwTOpjvbv+dJMcf5u01m1trewJeYW4Wfrcv15YGYnYqONLYegw5EExQTbYJnetFAL//ScwHZnuF3RuwYBL5f1Y+YLCDwNHH2Bt7I4YfCCaoFueFznXO899+mOI9VltzrvMb+pv3gtksnNcJwRsgmAAz/pLDzjdzMR/XsIN6z8TU+dnz/ua7tyyfU3Le04UEwskRjziIeBeGozAEk13lOYHuFfXCnN1hUc2gllXn4TMKzsTOuRQ7C3pPzlvIZwgPcqjnmhKjFkP7HaB6cuJZZa9G0Hge1CepHqm/3fJ7tpE+FN4nzz+ssxR/vcPFtYDxmHpD2Ab/JAiHLx6laYXzDiEovbeCuVZtsXyk5HnJeOD4qelZR9S/r7H8jl3qHd86NhpfO+CwaStd56VLzC1qAmFqPz7fukD2LkZLF/V9Doy9Vq3kJFtfcVT3VEy9UwEMahMUToD/diWc3xKOj/fIXqAMCGYJBJNXRPPCTIkzPTyies4yqbM8UbOqxkrHhuv1RiVEs46NtloJ/bSwUtOJG2el+EDpkqC+pHo2jazcEur41eOP6pzBTN/VuVJchvgQMnhI53w3Pf3N7Wqym1Q4eTdsJ3Sw2oI5pHmZh1T3AmzRzOp5EI5L9Lk3Q4ccpHivx6xG4992SM2SlwzqihLMyymFsrm8pexbtG+E53d6+kFxe3yKse2kw7rj2vX3AAa1TuH3v/H8t/OW80gK4eRxbTf0sHqCeZyivb2SrEj6hQ7TneA5rWq2OiWs8GwYrVWtJE1FUieYa9Wq+29L5X6GdlxDYTqenDSwq6uclHsN6h4IZGCTtsRDCCmXVjifJRwjIZgFCuYWjWCkCZ68S9NZDhj+/YQS6jRCk9RoA5Re1FY3rYBnLIplo/SmbMuDwjPvevxBvYux5585TzZXlp5ABrZJB326qsLJPhZfE373MwnGSghmQYJ53/IWSn+GAaNxT44NNFYrt0m+IpHFaHvUR9wQv4YHnKlgro0Qy0/qGfuansvespxVnD04/yLz88w0jFC+1ynKwH4De7r87X8Y1L8hkIHtN8EGIwEO9A0Hyi+U3J+hj0DpBFMX1upixueu9Bo8lEDEojA5H7RltAmDung7t3kbdll9GKsNPqApw49mp+WO1RPox8Tb+i7Dlr2OqX8xoIFNing0SeGSVji5b/1KoDSCeZrcuIF3rXhef8bnsRAt5WS0PoOO3Lz19J6SuYqzg9GsQR2XU7y75Pji4xnSOoo/537keOstrh0fBzSwhXqG7lo4+cjhqNqtgmAWKJgTDlcj003PO2LheVM5Ge2nBB35KaXzat1JZucZSScVoYWOOmVgx2MO6zeZXN0IbHCTzu2QhPlf4TyXQjj5ytrJAIWzNIKpOx+0IXDdZNdLcDwno7WQuTdrlgEg7irOcsIP4wC58bwtM08pfju23WH9Nw36SX9gg9u0YItfoJWRwvmZkgkn+0KcDmgCUhrB1M0GbXlUNi50H7fwrOs5Gi2uw9qwz7BBPUnCaUlev7c8/IjWU/Hboe8N3iG07BVS4IwBAlHwVjY7TH2iZMI5r8aRVs/tU3rBXLb0oTdm4JctPOt8iQTTxoffQ3avI1wTnnPcw4/oONm/zmO7fAhw8D9G2J7OWzg/q/HR17uupRHMGcerqEPqWdctPOsk+SWYJiukPkudysc7cJMVEMyxAAd9eMraEc7hFMLJCyAO1dfumT1KI5hjMS9yJuPz+TywkeYGgvkjqwzqOZzgeS/JztZuFWDbLVD5BfMQhUeXYI9X0MJE8Fbr2RTCyd/GJaonj4Bg5jQbbJQLJTGab4Jpux7p2o1vXnU/G9hu2vE7vKF4py3fz5aSTgSXoIGZhHOekgkn23uUqh84ozSCyZ17jswiT+yAYJZWMEO7UnLawHYuL3xvMKj/AYWLFEsVV0vSw7YbSiGcPHljH4fNFf3dpQqNlySmKh/aryvIaBBMPb5nvF/JXYMBwuXAbOJwdIzCRboytYNAUcLJx2PsiFm1rEWly1byMIHR+bLtCQhmqeoJzdEi7jqH6+3YaQPBbgt4QA/NAa1o4TRNVt8snBwDeYsH/akQweTD4TlKHiA4z9kiBFPPEQrHU9Mk/+Qph/W3UXw4vnuBD+RSkJHDBFx8E2dSCGfjNsQ2CGZyeLbxKYXB2QM2j21aCKaeExRO8uI9Bnbb7rD+Ywb1h56iKbQ7wWUSzrTXrcp8tlxKwWyIZppZSh7btBBMPTconLO0w1RsdpDHFB+2LHQQvKCYieRTSj52v6XyZ0QprWAy7AH4gtLNUvie1S4IZu71SPdpj3g2MMTlLHUZDm+TQZv5mnc0CSEdEVRVKHmsrkqc41ILZmNpf4PSX9jmLRnbYZogmHokr9GDng0QcUH4bzuse8RgdRuys0+Dg+Q2ghgg2ptSKNlrvmq5cUsvmA3YsGm2aBtxNH+GYOZSj5T6zLfztPsxNnN5RhbnGDeKcfyfcSO0zDl5sa9WnqUYj5+qv60ilRFMUitFHgi+p2gk/htbZ5sQTD3StaB9ng0YcbNqV+Ho4qJi2UpY4AP7CQEdXAjlc0o+BrO9d1f8t1dKMBuwQ9A0pVtt2shWAsHU81Z4xmbPBo64pLvdBQm1b97IWZDOet/BPIknH2mEkkXGlyARlRTMBrx3/jJFA/4GwXRWj5SA1reUP3FB111ccdpG8TE7sbr8cVdKSkUF4uGJ30yKcbZKAQmCEMwG7An3IWFjZpnxQDD1hBS7cynGZi0O6vyDqpGgoCyEFtu4aKFshLzr8tQmXggmqcGJo+h/MWzYZxBMJ/Us5CwgRRJ3lm6brpg658nfxL1ZxgUp9RSwI5R8bs5HAZs8t01pBHNaffBZ4bubjw0bOe12AQQz3arLN+JsZpuxnPpCKO2EFF8/8ksKoeRJxxWqftquSgomV2grev1tg8Y+DcGEYGYgbkvWJlupuCAJEEwIZdQYx9v/6wKzVekEc9DBM3VlHIJpvZ7lgATza46CORUzy+8kAMFMLpRJI6lxjO9zFO7Wf+kEc8riM3mbYFH4cWnrgmCme45vzMb83lWW6tlHxWVE8Vkwv0MojQsHjWEfkTWB96XSCeay5Ua5SfZzFUIwIZgmH0+rhTpYdKW7rbh8jz5pyoEUQjmnxrsWdKNyCqbtkGJ9DlaYpyCYGJyo7uzgOrXXOZK3xzowhqXuk8uB/P4eg92QqKAOgxZ3SSCYDgXzpeXtB9tnmNchmFq+BySYfTE2yxpYmr24dY5F/O+7MX5l6tu+n2H2phDKN1T+FFsQTPqvg87+HAQz7Uo2LnvKYg4fu03BXEXwkk1De4zNjmZsk1fCszGoQTB1HKTkEdBekn/ZhFwwVVbBnLX0XF0+PF4Jpd3OGjfogDa2MlpyEswOCGZqpLiuWdJ7SbsYv2HcgmBqhPJVQqF8rhYVwIx3ZRVMW95/k5ofdsvhstzWfdJOg3qOWqinx6Ce84bPCik0HqldCmnWnoajFtoB1AkhNF4aoXxC9YTPwJw1FB/d6zvldO4bJZi8tbkzwzO3aH4g35/LEqDaJPxenwWb9BnUYyP7yhCZBVI2Qbqb2OrhR8S7AFKe1vUJn8ezfd1d1jMYs1INcrq2+VLx38bp414nFEoeZ3ehW1ifHLs4TkwsmA1PwG0pntcmzLqy5Cncbmi0cQs2uUFuY+I2MEnZM2f4rJCylZh8SGcTiuWiZiXUh/EqFW0kexlXkb4UQjlBdry2Q4XHrveGtn5UpGA2BowkyZ87BbHMOkt/SOZR+/dmqIdzRy4Y1tWd8eMz/ehMzjGlOL4+e3Xq+sVHw5X1oGY35DX5lyIpT3aQfH5XNQYSfK/f1cS9C90gE7xL9JSSTVDYB8Hp1qxJQmgePPgSrS4iPm/fjmq2tLjzHMsgXsdSzOq4Tg6YzWeESS7+9pO8zRe1dc2OIO0J6mhVf/M94e+5QPI2o9SOPjsXsO11AQbGhL/jaFR3KdohZYRwYTwrkpf8VAV/j4lgLqsBezOaP9P33KvsaLpwWVk+qG+Y+6B1/41pSh4l/436u9cke2eyZ9PPCQWLM6d8JTk2alLxnFMf6cpcnDwB4IhE9zI0TqOOWTWrvBjxu7ieW8pmyxnreaHq6V1Rx6Twd72ef2TsbawLYn23aaXIH88B9TEuaiZZmzBmWaFX6I+Tngkmj4FXCQnE07BHjflfKD6pQtqypJ4/rzQmV8E0Des0lGJpPODIYLoL7d0O6ojyAOxxUM/1FXVICY77A/jwVqmV+7eEdnyvVu8QSrv0U3ZHtrILJk+yLxGiPmXBxRiceyo+3o5ihx920hlWK5opJYRf1ex8qanwv3FsTd6W3Y8+UAhS7N6jAdmhVX0Ud6i+VdvcV3mW+Uj1Zz673Ipu4wzpis7NigsmO9jxNaM2NDMA1eQ0ub0CA6oHO+Gxg00RTl8jQn+s4jUdFsx5tYBYg64FQLU5IgxQYzBPcPAWdSNDRhGCOSb0xyMVtCefT65GtwLAD3xzsgDZaGzRLxRUf8hOaACAkiMFdpiBeYJimH68OF8ET4T+uANNBAAokhBid4J4zqxo+8GC3iO02MYAgIoh3WNCQlr/uRDR7kVcopfS1i2hmQAAZeCFMFBtg3m8ha83RJ0Zvi/ofbaQ/UwyAABglQlhoDoE83jJPqqHAivTfcdDJAcjBwCAwrlMft19A3rYceYuyVFNipoknSLcCQYAlJzD5DbtGSgWPo+8TfUL9FnCg7U7fs9xoe7DaEYAQBn4mdzm7wTFcp+yx9LMI3mzdKUESZQBAKWAvRN1acPgnRjWJGmgwHfSeWt/J3hrAwBKhJQ7FAlt/WNY09ZFZV/pFPrfKzQXAKBMhJ7mKzQeUnmukxD5l9YLAOAxg8KAdQ3m8QpOwxeVkPxWge80KvS/E2gyAECZ2Elw/AkFXfLdvgLf6anQ/3aiyQAAZYKdKnROF8tqVQL84BJFO9YUldhYt+LlsojmAgCUEen6wS8wjzc8p3KFnusW+t09NBcAoIycFQauizCPF6yh6CtEVwp8pwtCvxtCkwEAyoiUG3MW5vGCPk379hT4TlLw/61oMgBAWdGFT+NVSTvMU3muU7nOqNsFsfyI5gIAlJlbwgB2FOapPG8i2vVxge8zIPS3m2guAECZ6RUGsPswT6VZr2nX8wW+k5Q5BY5mAIBSw9dLvpL+eskamKiy6LLS7C7ofVaT/jrJF0L8WABABbhN2Jb1kajwh0Xec5S2Y2+huQAAVWCvMJA9hnkqy8eI9pws8H0eCv1sL5oLAFAV3pPeW3YTzFM5uqhccVo3kj6l3Hs0FwCgSgwLs/8LME/l0AXXL+qe44jQv4bRXACAKtFBeoeMvwgOGVUjyhv1U0Hvskr1IZ1jWQeaCwBQNW4Iq4ABmKdSfKPy5Jn8VehXN9BUAIAqskUY2F7BPJVhl6YNjxT0Pi+FfrUFzQUAqCpSBpNumKcSDGnab0MB7yJlJplEUwEAqsw2YYB7AfNUggcRbfdO8385CPsdh+8yQwi0DgDwmAlhkDsI85QadrCJct6KOivcTPUIOycdvYsUdvEOmgoA4AOdpPeYfUfwmC0zuiAUh1b8v7VUP5d+4lC435LeM3YzmgoA4AuXCffmqshvFB18Yu2K/zddKwsOhWuIcK8XABAIHHRdd3eOryxsgIlKSZTT1ucV/6eR0s3VVaH1FH2thcuHWmlFMwEAfKOH4OFYNaKEigOud6jSCGhw2+E7SCm8DqCJAAC+Mi4Mfn0wT+l2Bf42KM+pnmrLBf1CvWNoIgCAz/DZly4wO3tYboSJKiWYfDWo3VH961Wf0G3FrkUTAQB8ZyfpvWafwTyl4jnJ2+guResJ6b1id6FpAAChcEIYiEdhntLA55Ts1MNnmUu1Mk/1e7Wu802OCv1jEM0CAAgNBGcHUQwQgqsDAMB/eED6bbf9ME9w7CP9dv1DmAcAEDJ8BvaM9E5AOKsKhx2kd/J5TnDyAQCA/3tZ6oJqc5Li7TCR92xXbR3VB2bInScuAABUjjbSe2R+xkrTa3aqNtatLNtgIgAA+BEOcTZF+vB5yJ/pH92kD3s3RQh7BwAAIlepfoUhqhyDebzhuNDOV2EeECL/A5anGcL4n8oWAAAAvXRFWHRNYXRoTUwAPG1hdGggeG1sbnM9Imh0dHA6Ly93d3cudzMub3JnLzE5OTgvTWF0aC9NYXRoTUwiPjxtc3R5bGUgbWF0aHNpemU9IjE2cHgiPjxtaT5zaW48L21pPjxtZmVuY2VkPjxtc3ViPjxtaT4mI3gzQjg7PC9taT48bWk+dDwvbWk+PC9tc3ViPjwvbWZlbmNlZD48bW8+Jmd0OzwvbW8+PG1uPjE8L21uPjwvbXN0eWxlPjwvbWF0aD5MZ+1/AAAAAElFTkSuQmCC\&quot;,\&quot;slideId\&quot;:261,\&quot;accessibleText\&quot;:\&quot;sin open parentheses theta subscript t close parentheses greater than 1\&quot;,\&quot;imageHeight\&quot;:20},{\&quot;mathml\&quot;:\&quot;&lt;math style=\\\&quot;font-family:stix;font-size:16px;\\\&quot; xmlns=\\\&quot;http://www.w3.org/1998/Math/MathML\\\&quot;&gt;&lt;mi&gt;sin&lt;/mi&gt;&lt;mfenced&gt;&lt;msub&gt;&lt;mi&gt;&amp;#x3B8;&lt;/mi&gt;&lt;mi&gt;i&lt;/mi&gt;&lt;/msub&gt;&lt;/mfenced&gt;&lt;mo&gt;&amp;gt;&lt;/mo&gt;&lt;mn&gt;1&lt;/mn&gt;&lt;/math&gt;\&quot;,\&quot;base64Image\&quot;:\&quot;iVBORw0KGgoAAAANSUhEUgAAAc0AAAB9CAYAAADA+DjcAAAACXBIWXMAAA7EAAAOxAGVKw4bAAAABGJhU0UAAABLISoKhgAAFlBJREFUeNrtnX9k19sfx19mZpIxSa4k5ppkEsmVZGKuzCRjJpkkkiSZyJVMErkmVxJJZnKNTDKTSJJkYpIkuSSTaxJJZmbG/b5fd+fzvZ+7+zmv93m/3+e8f5zzfHD+SXuf9+d1fjzPOe/Xeb2IAEjGjaj81aAsR+UozOMVR1W7NmrvGzAPAADoWR+Vx5oJ9GtU9sJEXrJPtW+jdn+k+gUAAIA6NkTllWbinI/KNpjIa7ZH5bOm/WejshEmAgCAVXhCfKeZMP+MylaYKAh+VO3dqB+8gXACAABRe1ReayZK3nl0wkRB0SnsOF+r/gIAAEHSEpVnmglyISq7YaIg2ROVRU2/eBqVZpgIABAiE5qJkUsfzBM0h4S+cRfmAaD8HI/Ky6gsqVUwr3gPwiypOSdMipdgHqD6ga6PnIV5QMHwp4LLUbkFU/yX+8LgvQrzJGafYM8nMM/fNEXlZ9W/uP/NqcXasirf1cLtN/L7GFt3BWklKt3oJqAA2qIyQqufkP5SYxHUMSJM8LWCHWey1dkc6R1/NgVuH/YUvkb6e4u6MhOVLg/tsZH0jkGfCI5BID/4vvDFqHxb0w8hmmtW+98NJqxnMJUx44Id+wO2C99Tva52UPU2+RCVM1HZUrfKPaPpl7wDPeKhbfqFPvM7hhRwzLqoXBAWshDNOrYZrvIXYSoj+gQbTgRsl37NbmpELdwasaeBwNbKgIc2uif0nV4MLeCAVlr1vfgSM/9DNOvYDtG0ulr7pLEfH3eEeCzLVyduUeOQgT0Gf3+Z9Nd1fLvf+gPpT33m1AQHgA34KtwwrUYiM5n/IZp18Cp/ycBoz2GqWK4I9hsO0B4bVb9pJJg7EzxDF+zcR4cqeFwD14vYswnEEqKp4VcDow3ATCJbhMXHH6Q/gvTZHh81JxZ7Ej5rSuiXvnnVNqn+osuAswVDDaTsV6dJfxIG0UxIq1q148pJesaw4Pg/fGyqi6+axhHqrGDbOx7abzCw3wvciuVJ+sebn30E+PTndlRGo/ICopnNuHw09EataHlH8JDggGAqErrO9iYwW3BAct31iSspn9kr2HfB0138G9Lf3UQ2HGBKLUkEZ9Fhj/RGCQHuQDRB3twlXDFh2JFFd/zzMsNzt8QMaB8DAEhXUBBiD5jC3unbY/7PJogmyJOtpL8W8T4gO/AF/LfCbrAjw7ObYwa0r+Hm3gu7TaSSAy52pBBN4JxRoaOdCsQGfDwqfRM/Y6EOaUCPe2rXU8JvHsXQAxZ5ANEEedBC+nt1/O+h3Ku7Jgy2WUt1SAN6OsD+tUC4twnscR+iCfLghNDJrgdig4GYwbYjB9Gc99i+vwm/+4RHv3OzWiQAiCbwmJdCJ+sK4Pezg843wQY3LdXTFDOgFzy28Q6SA9j7wpBa/Jyn1aDhAKIJPONHwjWTmRgh22ipnpaYAb3kuZ1fC7/dl1CCQ3W/ieOgcqaNNkwzEE3gD1Ly4HMB/P7zMYPsosW62ijeJd5nQgitN6SZqPn3bcB0A9EE1ee90MF8vw7QQXK8Yj5ms3nEtjfwneZW4bf7cq1pKObUgqOSbcK0A9EE1aRL6FwvA/j9T2MGmO2ddl/goknk//fzIYPTBI5Uxp7amzEFQTRBtbgodK4Lnv/2QYr3ZG3Nuc7v6HNBiGa9eN4gBHiAaAKs+ksOO+TMxQyu8w7qPRtT55cA+pzvXrT83ZJzpy4kEE+OjMSBxzsxJYUhmuxGz0l4f1UvzFkhFtUqall1Hv5ewdncORdjR0HvyXkP+XvCwxzqua4EqdnQfgdoNcHxrLJXLdA8T+yTtBrdv93ye7aRPmzeZ88H1jmKv/rh4rrAeEy9IRyJE+kD4a+QP56macXzd0Ige29Fc706avmTkuc048njx7pnHVb/vs7yO3aqd3zn2Gh8JYFDrK11qZcuOTerRYSp/fh71yWyd3FauszvcyDt9WpHJ9n6V0d1T8XUOxXIxDZB4SQGaFfi+T3hHHmf7AXUgGiWQDR5ZzQvrJY4Q8RjWs13JnWWp2plVdvx2HDJ3qzEaNax0VqU2E8LOzadwHE2i4+ULonqK1rNwpGV20IdRzweVBcMVvuuvjHFZZkPJeuH9N3vlqe/uV0tepOKJ5+M7YIWVls0hzUv84hWvQObNat7nojjEoXuy9AhT1C8N2RWo/FvO6RWyksGdTUSzaspxbK+vKPsx7Vvhed3eDqguD0+x9h20mHdce36WyATW4dgg7ee/3Y+fh5JIZ48t+2BJlZPNI9TYw+wJDuTAaHD9CR4TqtasU4JOz0bRmtVO0pTodSJ5nq1+/7LUnmQoR3XUZjOKKcM7Ooqp+U+g7qHAprcpCPyEMLPpRXP5wnnSYhmgaK5TSMaaYIt79Z0lgOGfz+hxDqN2CQ12hClF7aWup3wjEXBrJW+lG15UHjmPY8H1PsYe/6R84JzbekNaHKbdNCvqyqe7HfxLeHYn0kwX0I0CxLNB5aPUgYyTBq1e3RsoLGo3CH5+kQWo+1Vg7gmgDWvOFPRXN9AMD+rZ3TXPZe9aDkzOXt2fiLz75tpGKF8r1qUgf0G9nT52+8a1P9DQJPbL4IdRgKc7GuOlV8puY9DP4HSiaYu/NXljM9d6014KIGQNcLke6Eto00Y1MVHu/VHsstqYLQYDKApw0Gzy3LH6g10MPERv8vwZm9i6l8MbHKToiNNUrikFU/uX0cIlEY0z5Ab9/DONc8byPg8FqOlnIzWb9CR64+gPlAyF3J2Opo1qONqineXnGF8/J60geK/ez92fAQX145PApvcQv2u7lo8+RPEUXVyBdEsUDQnHO5Kpuued9jC86ZyMtqPCTryM0rn7bqLzL5tJF1YhBZi6rSBHY85rN9kgXUzwAlO+o6HRM7/iOeFFOLJV9pOBSiepRFN3fdCGyLXQ3a9B8dzMlozmXu5ZpkA4q7pLCccGAfIjUdumXlG8Uez7Q7rv2XQTwYoPKYFe/wMvWwonl8omXiyf8SZgBYhpRFN3YrQlqdl7dL3cQvPupGj0eI6rA37nDeoJ0nYLckb+LaHg2gTFX80+sHgHULMeCEF2Bgi0Ag+1mYnqs+UTDzn1VzS6rl9Si+ay5YGe20lftXCsy6WSDRtDPxesntV4brwnOMeDqLjZP+qj+3yMVABOEY4rs5bPL+oOdLXu7ClEc0Zx7upQ+pZNyw86xT5JZomO6V+S53Kx/txkxUQzbFAJ3540NoRz/MpxJM3QhzWr90ze5RGNMdiXuRsxufz98FaehyI5r9pMqhnMMHzXpGdY94qwLZboPKL5iEKk07BJq+hh4ngY9dzKcSTx8cVWk06AdHMaUVYK5dKYjTfRNN2PdKVHN887X4ysN2043d4S/GOXL5/Z0qzIFyCDmYSz3lKJp5s71GqfoCN0ogmd+45MotOsROiWVrRDO26yRkD27m8EP6DQf0PKWyk2Ku4dpIett1wCvHkRRz7PWyt6O8uVRi9JDFY+SP+hoKMBtHUs4Ps3fesAvcMJgiXE7OJE9IxChvpStVOAkWJJ38uYwfNqmU8Kl2Wk0cJjM6XcU9CNEtVT2iOF3FXPVwfzU4biHZb4JN6aI5pRYunadL7evHkuMnbPOhPhYgmfyyeo+QBhfNcMUI09RymcDw4TfJXnnZYfxvFh+67j7lcDEYyCPM4GRdnU4hn7aZEF0QzObzi+JzC4OwZm8eRLURTz0kKJwHyXgO77XBY/zGD+pHaKbx7w2USz7TXscr8rbmUolkTzjQrlTyObCGaem5SON/WBqnYrCJPKD68GUCAg6IWlM8o+fz9jsqfSaW0osmwZ+BLSrdS4TtYuyGaudcj3bc97NnEEJfz1GXovC0GbeZr3tKkhPTJoKpiyfN1VWIjl1o0a1v8m5T+UjcfzdgO5wTR1CN5kx70bIKIC9x/x2HdIwa73NAdgGocJLfRxgDRvpRiyR71VcuvW3rRrMGGTXNcW4u7+RNEM5d6pLRpvn1fexBjM5ffy+Kc5UYxj/9r7ggt605edEfleYo5+Zn62ypSGdEktWPkyWAlRSPx39j61gnR1CNdGer2bMKIW1m7Cl0XFz3LVpIDX9hPCPzgQixfUPJ5mO29p+K/vVKiWYOdhKYp3a7TRpYTiKaed8Iztno2ccQl7e0pSKx981LOivT99z3Mk3gBkkYsWWh8CSRRSdGswefor1I04C8QTWf1SAlsfUsVFBeo3cX1py6Kj++JXeZ/T6ikNFYgHl4AzqSYa6sUtCAI0azB3nEfEzZmllUPRFNPSHE+l2Js1uygzrtUjaQGZSK0eMhFi2UtPF6npzbxQjRJTVAcef+rYcM+h2g6qWchZxEpkrhv67bpjKlznvxN/Jt1bpDSVgE7Ysnf0vnTwBbPbVMa0ZxWgz4rfLfziWEjpz02gGim2335RpzNbDOWU1+ggNoK6cH+zc8pxJIXHr9S9VN+VVI0uUJbEe/vGDT2GYgmRDMDccezNtlOxQVSgGhCLHXzHH8O2BCYrUonmiccPFNXxiGa1utZDkg0v+UomlMxK/0OAhDNdGKZNOoaxwW/QOF+CiidaE5ZfCYfFywKPy5tXRDNdM/xjdmY39tkqZ5uKi6Tiu+iuQKxNC4cXIb9RtYF3pdKJ5rLlhvlFtnPdQjRhGiaDJ5WC3Ww8Ep3X3E5H/0yCQdSiOWcmvOa0Y3KKZq2w4/1O9hpnoZoYnKiVecH12nBLpB8TLYRc1imfrkcyO/vNTgZaRT44YTFExOIpkPRfGX5GML2N80bEE0tKwGJZn+MzbIGombvbp2zEf/7Hsxfmfu37980+1KI5Vsqf3ouiCb912lnfw6imXZHG5d1ZTGHwW5TNJsI3rNpaI+x2dGMbfJaeDYmNYimxEFKHi3tFfmXicgFU2UVzVlLz9Xl0uMdUdqjrXGDDmjjSKM5J9HcCNFMjRQHNktqMOk04xfMWxBNQSxfJxTLF2pzAcx4X1bRtOUVOKn5Ybcdbs9t3TftMKjnqIV6eg3quWj4rJDC6JE6rZBW7mk4aqEdygAvxu6pk5cPURks6D1CCKOXRiyf0mrSaGDOOoqPBLZCOX0HbiSaPNh2ZXjmNs0P5Pt1WYJam4Tq67dgk36DemxkbRkms8DLJkh3F1s9HER8GiDled2U8Hm84tfddT1bIbs0UePjwcMFTXS69vla8f7H6efeJBRLnmt3Q/+sL5JdfF5MLJo1D8GuFM9rE1ZeWfIc7jA02rgFm9wktzF0a5ik+pkzfFZIWU5MBtK5hIK5qNkN9VfMJscEkcp78dRGsgdyFelPIZYTZMejO1TWqxMTE1s/LlI0a5NGkgTSHYJgZl2tPyLzSP/7MtTDuScXDOvqyTj4TAedyXdNKe6vz96eun7xp6FInNCciryhaqZWmhD6wUDO77KT5O95VWMowZhdUQv4TgJZ4BOjZ5RskXKDHB/TmiSV5gmEL9nqoujzUe6o5nhrRa1+0wrYsRQrO66Tg2z3UrKLwQMkH/k1OsZm55D2BHW0qr9ZSfh7LpF85Ci1o8/OBmx7XRCCMeHvOGrVPWrsoDJC1b1QLvWDvCMYSR70UxW0rYloLqtJeyuBLGO6T9nRdAOztnxU45j7YEueg0wXb/Ot+rs3JHttsrfTTwlFizOufCM5lmpSAZ1Tg3RtLk9eBHDkovsZGqdWx6xaWV5u8Lu4ntvKZssZ63mp6ulbU8ek8Hd9ng8ydnzRBb2+V7dj5MFzQA3GRc1Cq+rplX4v0U6zT3iXSc9Ek+fBa4RE5GnYq+b9rxSfjCFtWVLPn7cxDqYdvCCL1HCKLfKQI4PpLr33OKijkVdgr4N6bqyp426JJssiaFI7+O8J7fhB7eJ9yUWo2919ovy/aQ5Qdge3sosmL7avECJEZcHFPJx7Kj8+mmInIHbcOa92NlNKDL+pVfpSXeF/e6iOaPejDxSCFOv3aEB2aFWDgndc79b0VV5pPlb9mb9lbvfUBmuP/z8U9FulKzy3Ki6a7HjH15DaMPUAUE3OkNvrMaBa8PdvvkPYTcXFMB0R+uTZCtqURXNebSTWoYsBUG0OCxPUGMwDCmBM6JOHK/h7+HtlC5oVAD/wzekCVJ+QndMAACVHCv4wA/OAAngq9MmdMA8AoEhCiPMJqkVo8ZABABVDuuOEhLYgT6S0d0swDwCgDLwUJqoumAfkyDayn4UGAACsIsUdPQTzgBw5RHIAcwAAKJyr5Ne9OJAc/lbIEVY4Awxf+SgqcfZpwr1hAEDJGSS3KdNAOeDvhRwQnMMz8oX767QaP3m+QbsXJZrjQl8cRBMCAMrAT+Q2/ycoHtMUebWyq6D3lK6bIBEzAKA0OxBdyjF4LPoBiyBnauHgAEdIDtT/pcD31HlyrxA8uQEAJULKPYqEuH6i29UV5XDTIfTB12guAECZCD1FWIjo0vsVFd/Vt5RgAACPOSFMWNdhHi9Z1LT3hoLeZ1TogyfRXACAMrGL4AwUErqYw0UGEHhG5XNMAgCAhrCThc4JY5lWE4wDfzinaesrBb1Ps+pnjd5pEc0FACgjD4SV/s8wj1fonID2F/Q+PULfu4/mAgBUaffB5TLM4w1t1PiK0SIVd63jktD3htFkAIAyIuXWnIV5vGGwhDs6KWnAdjQZAKCszJP+cnk7zOMFugD9RXmotguC+SeaCwBQZm4LE9hRmKfy8PGrLsnz1oLeaUjoc7fQZACAMtMnTGAPYJ7K061p2z8KfKd7BAc0AECFdyLfSH/1ZB1MVGl0AQSKCmDRQvqrJl8J8WYBABXgDuGI1lfeatr1YEHvIx3N3kZzAQCqwD5hInsC81SWLVS+4BVSyrJ9aDIAQFX4QHov2i0wTyU5qWnTxwW9z2bSp6T7gOYCAFSJ88IO4BLMU0mmNO15rqD3GRH62Hk0FwCgSmwkvYPGJ4KDRtWQYrt2FfA+Taof6Y6LN6LJAABV46awExiCeSrFIU07fi7ofY4IfesmmgsAUEW2CRPba5inUuiCVowX9D6vhL61Dc0FAKgqUuaTHpinMvyhacPBAt5FymgyiaYCAFSZLmGCewnzVALdVRNdPGH+3ujSEWeGEJwdAOAxE8IkdxDmKT2HNW03o/n/HO+Vo/FscvAuUpjG39FUAAAf6CC95+V7gidt2Rkj82sdtbucLhy9uJ+8I73H7FY0FQDAF64S7tRVleeadtul2QW6Csw/TLj7CwAIBA7UrrtXx6mmfoCJSsuCpt3qTwgOqt0e51Pd4OAdNpE+JdnHqLSimQAAvtFL8HqsIro22xGVtqhcpn8cg1zFe5XSfx1AEwEAfGVcmPz6YZ5S8l1os/py3FH9A0KdY2geAIDPrCd9MHf2uNwME5WOBwaCOeyo7k2qX+iOZdejeQAAvsMOJDpv2ucwT+noFsTym9oJuuIp6b1ld6NpAAChcFKYiEdhntLB36NfRGVRlVlazTKywWGdo0IfOYEmAQCEBgK6Ax1DhIDsAADwHx6S/vhtP8wTJN2kP75/BPMAAEKGHTl0l+fZAQTfrcJiJ+kdf14QHH8AAODvoN+6INycr3EHTBQEO1R76+LctsNEAACwSpvaSTSaML9gx+k9u1Q763aYbTARAAD8Gw6FNkX6UHvIv+knPaQPoDBFCJEHAAAi16KypCnHYB6vOC609TWYB4TI/wC66yeWrLkEBwAAAL10RVh0TWF0aE1MADxtYXRoIHhtbG5zPSJodHRwOi8vd3d3LnczLm9yZy8xOTk4L01hdGgvTWF0aE1MIj48bXN0eWxlIG1hdGhzaXplPSIxNnB4Ij48bWk+c2luPC9taT48bWZlbmNlZD48bXN1Yj48bWk+JiN4M0I4OzwvbWk+PG1pPmk8L21pPjwvbXN1Yj48L21mZW5jZWQ+PG1vPiZndDs8L21vPjxtbj4xPC9tbj48L21zdHlsZT48L21hdGg+RWmwhAAAAABJRU5ErkJggg==\&quot;,\&quot;slideId\&quot;:261,\&quot;accessibleText\&quot;:\&quot;sin open parentheses theta subscript i close parentheses greater than 1\&quot;,\&quot;imageHeight\&quot;:20},{\&quot;mathml\&quot;:\&quot;&lt;math style=\\\&quot;font-family:stix;font-size:16px;\\\&quot; xmlns=\\\&quot;http://www.w3.org/1998/Math/MathML\\\&quot;&gt;&lt;mi mathvariant=\\\&quot;script\\\&quot;&gt;l&lt;/mi&gt;&lt;mo&gt;=&lt;/mo&gt;&lt;mi&gt;m&lt;/mi&gt;&lt;mo&gt;&amp;#xA0;&lt;/mo&gt;&lt;mi&gt;m&lt;/mi&gt;&lt;mi&gt;o&lt;/mi&gt;&lt;mi&gt;d&lt;/mi&gt;&lt;mi&gt;e&lt;/mi&gt;&lt;mspace linebreak=\\\&quot;newline\\\&quot;/&gt;&lt;/math&gt;\&quot;,\&quot;base64Image\&quot;:\&quot;iVBORw0KGgoAAAANSUhEUgAAAdsAAAB2CAYAAACAjzmwAAAACXBIWXMAAA7EAAAOxAGVKw4bAAAABGJhU0UAAAB14EsXLQAAFCJJREFUeNrtnQ+EV9kXwI+RkSSSjCSRsUZWIllJEklWkkiSlcRIVjIiayXJkpUkiWQlSSRJsiIZSRLJGkmGJMlakWT8ZAz7+x7dr3nz3e+757737v3+m8+Ha+30fffdd8+779x77rnniAAAAHQ2i+mC9jFQK4dr5VatfKmVr7Xyv1p5USu/18oyuggAoKvoq5XVtbKrVs7Uyu1amaiVf2tlC93TWpbXyuVamXQCyCuqgLfSXQAAHcW8WtlUKztq5YD7nqtSHa+VKc83fRFd1xr6a+VkgJJtVLiscAEA2s+woUx9ZYzuaw2rauVVEwHcd+aG+ZkZkwr0U+Y3v9N9AABtZ5t82+bT7/PXgsr2At2XnoNNZkOva2W955o9md++oAsBADqO/owCtpTtDrorrSCuNen0G24F66Mv8/v/0ZUAAB3LKkPR6mJrPt2UBt0If9Kk008XqKN+zSTdCQDQscw1lO0zuigNS+Wbmbixw0+WFN4XuhQAoGOZZyhb/G4SMFgrH5p09pmC9WzOXPuEbgUA6Fg2Gcp2G10Ul6Fa+adJR18vUddI5vrzdC0AQMdySPz7tXPoovSK9lHJjs7u926mewEAOpabHmX7mO6Jx2COon0r5SKGDGXqeE/3AgB0NF88yvYU3ROHJdJ8j1ZjYX5fss7rmXqO0sUAAB3LWvHv1xIPOQKaxWE8p4N3l6xzXaYOVeJz6WYAgI7lV4+i1WObfXRRNfSA8rOcDi7r0KSKNXtkaC/dDADQ0Yx6lO0DuqcaOlO5n9O5z6W859mVTD136GYAgI5fdPkSExyni6pxWfIz9KwoWecvmXr+FhINAwB0OjvFv1/7A11UniOejv2pZJ0HM3VoJol1dDMAQMfzh0cfTNA95dni6dgbJescaahnD90MANAVfEigE2Y9epb2U06n6lnYhSXqPN9QzyG6GQCgKxgSvwl5P11UHN0Ef+3p1E0F69P92EYPtoN0MwBA1zBiKNuldFFx7ng6tOgxn60yM9qU5qrdThcDAHQV9z164TXdUxyfQ5QGtAgNOqFhG680XK9ex2vpYgCArkKPd05GXITNetRt23eGKsRruM8p7Mb9Xp0VcbwHAKD72CF+EzLWygKow9M7T2da+WlVye6T/4Zz1LO4P9O9Pc0SNxj1QLtmA9GEFEWjgamfwHCt3KqVz24WrVsOL927t7xiG/X91JCiN9x7/tXdY9zVvwTZIBsDtcqpr8nVWrlXKx9dP0y6RcqE6xN9jsNSPgZBSha7vlar40Mnz3p/67d61L0rjQ6wF8QforFdKfV0n3iPe577bpH3NfOOvnfv7c+dtNjz7dP6zMdqLj7mHqrxOq1zGbqoZ+hz1g99uS/Jt9BsEznvTOgHWN+rE556snv9O0q2WR07/jbq10G6HtkgmwY2yrezpR+NNuaVUVdHu9+N/a4tU4HtVj+bVZk6xj2/fdiGCYMmrPmroCxUCf+aokGrCvz2oNHI9U2Ep45P16W5HV9nd+Sk7W4W1MqP7mOoch4rMFDHA++xwa20igyWlQWeQbc9Xheo/5OUSxGJbHpLNn1uJdRMwbyRbynk9ERGf+b3a9zfP+e0/5qTWyuZ65RSs8mMhtnV7b7VMp04QI/2nJOZKVP1GQcN2Rxr0fOscBPJRp3zyE0y6++HtvmA5KcBvBTbdKQv/5OAGeGQm5nmdeTFjClpp3tp8h7ilRCkolf4WnImH+os8UvJui8Htv9EyfpPIZtZLZudTqE23luDOewTO6PNgPvu/puzCGmVKXOfNA9A8SxAJ2T3Zw8ELMbWJH4WVaJnm0wo3xhWg8PSgjSAjbGMdeZ72nXiWpk2CeuL88LoyKtOQL6Z8+Na2YZ+6il0hnvBFZ0J3jImZdlivQt/VFAW74y6+11by9b/F7KZlbLRvb8/c+573S02QlnoMbu+LFhXUZa7lV4zU3+R2AZn3HUqrzuGxSElu2Tm0dF/M+2y+nHA0+6bsRqoMYs/VnipQ8pHN+hXdegHaXPi5++kcrtFfbowYHLmc5bQv99r8tJvcBM/HRwPA+r3mc0ar3/iBqzee56zzFj7j90Isqn2Qc8z/x5N8P25nug59Ls/kbMqL/qdXiLTDq6+Iz+pQjQucP3U7J4XCtST1+4vsRt7ImdWULa8cTPpzdL5CYJRtunMU7623PNce6dhFdTMnLWi5AdXP9j3GwbTTzlKqazC6HSQTTkrQd79qubX9k1+YjpNzZH8zGzvpLw393jAtydFDvLvJH8//0LBulo6zuvOTGfdYPtszFSyA+eBU666D9ttXsUo2zQcMtpyJOe67Krlofhja/vqf55zzfWGSeFgyfo/drGyRTbhzBN/RKThCPc45qn/UaTn0P3Mx5LvUVzl+NG9gG9P7GNZGyQ/Jn/RnOdLO8GCdUy6f98KZdseZXvVaEszj9STDWanPuPj4av/SpNrsg43z8Tvtdpv1H+ni995ZBNucn/iuc/pSPf50XiewYr1q6J75VEmVR2XLGX7MvL7u1XyfQ/K7HXv9rT9RSsG5AqxnSnWSPeDsk3DIynmILNHZh5/sLAi1exr+P02mbkHaA3IdUb9J7v4nUc2NtqGp557PIgoj/nG8xyuqGh9R7N2R2j/faP95yIr2jyL61dnWi6KzxmvJeElR6X60QCU7exUtn3i34L4o+H3qzMTu1uB97COhWRXA8syJqcxCUv7eMCof0OXvu/IproCUbNr7KM5vucp6xGrbRxvgRL8JNU820NZZywAyzipqQl5qp3jfI/YUUMWSW+Aso3PaqMdOxpMdfXwn7riCg3ndttT/9sG5VJfoai35UBg/TfEv4/T16XvO7KxuSitj+8b2wyrq+XnnjrHJF7oRN957lghGvWoku/kTNktzfPSxm3S+WJ7JpP8F3zs9bw7OovMhvSse7eOF5zATQSuzk5Lub2pL9L6YwzIpv2y+cn49qWSve+eEyXqu2sowJWR2j3PaPuDSPd4KfG3NL83VrXJoxueMR7qGboEDHznIEczv6tHnNGPZ5G9lpWBq7P1Uu7owVqj/mFk05OyGTQUuf5bimQHcyXuUabjRn3HI7bdcu46GuEeV4x7lDmP3O9W96HbKdEZEjt26mp0CRi8Ejs+6qBM778UDU6/z/gw9bvZ8JuSA8cKQ7gM2fSkbB5Le2L7LhM7nnQoG4269FxqzMw71v55VX2xy6h/Ssp5a/s88p9LeD720tyVODFNYfayIMDc0yfT+0llnDR8e3Z33W8uZj4uRQeOLwLSOLLpSdlYcX3fy3RCgdhslThm5IXSPKtatvzYQktJ1fPO+jxWpqcyZv2Txjs0kHogWo5CakIhqTtY7BS/Y112dVLWSeOD+I+VbM7Meovu5cwRv7fuRWTTc7JZKHbY2kMJ5bJb7Ih8IVwWO41fbHwZmaqGmzwvttNn0XfoN/E7og20YiCOtcmEAr2FL3m0mm6G3AezaKq1EJOb1rtEpk2Uv5So39qD2oFsek42pwJWtSm9zy0/mZBTBOsTKCaLAeN+VTK7hWxpPi1Q31xjFa7OgPNbMQitoz5vE5pQoLfwTdp0Bl83UZZ1nPB5i6qZsh7Dtqwj31nx7w/1I5ueks1C8TtFxXLy8XFbqgeFsBKkP0jQbmu/dlHCPqmn9QthjeR7M6uJ/udWDkIrOTO5ZyGEBcbH8GSJGWkj1z33qH+My0aSsT5ao8im52RjhaSdlPTJ3CeMNuwyrt8boJg2Jmi3z8enSpjDoYDnmRR7v3+Rm6hMeVazy1s5CC1BvRCAMHx7T+/cCkJf/Cpn/P72DL56tJyyRxsWS+9upSCb5rwz6k19BOS7AMViHTeyFkspgjPME//++e8V6r4Y0Ce+sKEaalhN83nRpnRC2ZYIcK+kN8PSQesJSSh+JvGHSbc8yh5tsBxV1iKbnpLNxoA2p/7+DRv3HzOu3xHwDCmcuywTctmAEP1ix+TXsqXhOt0O2C/+MMN/tlOfWQ4Hf6I/IOIq4VNFk9yBgEG4q0L914y2I5veks0lo71/t0Aud4w2nDKufyTtMYP7siFVCZm5L+A9+uB+q+Zm3W99IPmmYnXI0y2S5e0egJaghtAfEEjIPsuvFe9xs+IqwMJ3pu8Gsuk52Xww2nwpsVyso0x56Q7rDAbINUUqSCu+dpUY7HcCnum9MXl87hRsx2Sls8KqXUF/QAEOB6ycqrrWW16jVQLEWwppL7LpKdmEmL1TH/OyTOPPjetPBDxDivf2mqQxW1sZqfKia+miUY+17ZT0zmylOCd+78RYy+6FHf6hIutPHKwE0qcq1v+D2GHoqvCzVHNS6WSQzX+xHEOnJG5Yw2ZYEfusoy0vAp5hYeQ2Lxf7/GtZi2jIHvrnWjniJkLfSRdk39IGfmyB+URf1vqG9QWUbc8qW8scpoOzajzhXyWtE4jvXN9f0r0gm+ZY0ZaeJpbLYkNpfTAUyUDAeE9xksRytHtToe4jAc90qdsG4DZj8K2IdJ/subsxaVGEDpRty5XtduO+9yLcwxcTVx0yqgQO7xO/B+Q56V6QTblVZeptNMsEPGJcvytgvMc+thQS1alK/PwbAc+0s9sGoC/jQSxHkNMyM+7qUla2PatsLyUeIHOMQV41QcYGo/1bu1jZIpvmjFc04VbtM1/O8JCkB+ek9fu19yTtPvejgPq7zmn3k6Q9S5jdY9HoKGs6uC9QttXxeYp+kur7KtZZwqpn53xZQCalC/aFkE1hrKhN2xLKxNqD3h1QR0g4w5jJz3cG3K9qONPPAfeY002Dz+e2/SyBUDp9VYCyrcYa454x9up9AfTfRaj/cWIza7tANvlYXq+rEslElZHvyFFoDOPXAeN9UaQ2h6S6+9etTKvwNeAeXYUvYslwxbo3NbzEw13QHyjbahxPvLKxTH5nK9Y9zzCDHuliZYts8rHGSqrk4b69Wj0+FXoKZCLgGWJZZG7J9P67734nKt5nSnpM2V6TNG7ia2XmWbuTArOBp2JHeqmCdR5yXWIzqBUrWBXaRmTTdbKxFEcKlhtKcl/ElXmsZzgk02d+rTSsVSdvPbeyfSDxQzPqpnX2KNEfArOBRVI9NZiF7zjAPxHq95lBrXB99dByn6TzUu8hG79srPCVrfz2lvlmtmIVuNEpdS1W1KiQEI06+bnpGSshe7YDCcfL9tiV5j3QSMn6VshMe/5ddNCswcqDvCnCPe5L2qMNL6VcZpH1mdXFbmTTdbKxHIxi44vipRaIombrkGD9VQKxrJRpR9pfxI6jb33397vfPfb8JsTbOcXRH33Wt5IgFWHeUr2M59pymbnZr+ftuspbDCrhOxf3MUL9VkCGquH0rMAAw573vn504zKy6UrZWOdcY1oq1nr6Sj/yi0vUaSWLr6KYvs/0YV05jhj3Ouqpb0vGyuALoHJGWn92WFez9e3P0dj6ayrSyzXYoGhVKPPQP7MGNRlNJB4Uvj27yQgDwwoM0GyWq34N9bSUzyWdIw2ySSsbK8RkrFRsiyXf+1j/Xjb+wPUAxVQmCcEGmd4S/CezOrYCTuRZStZl3kXLTLsp4JkmJV7o1N9kZrSt6HGVv0Qwm6ySmYeyVdF2YnQoSIc1MGKcU/SF1HsQoX4rSXXjBHSBTDsddXKgFmQTJpvXJVdqocx3Sj8vrGEVpWHlwa2XIjEORjKLsamGCccTKX7+dbVMm6JPB7bhXcAzVQ28tFRmHikbK2ldMMmL0tFXYCBng2KMomhnJWfFn4kjxrGDD4k/hqMSvm83INOB3yeksxPJI5swfDl4q8YVVitfXhjLxxE+7gMS5iSlcrLC766S/3qu7w1cpOXpj/UZPVFEOYbER66SEvKgzPRbepZK0SonKsyARhoEfK9DzWiQHt+q4GaE+q0UkDGCDlhOJkNuBTWcseSoGWsLsukZ2TyX+GkBF3lWgmcl3vnXK4GK6Yv77mdDHQ66yUazSU2z88vWUaPT7rnUwnBMpn2DHhbUEX1iHzGql6sSHrhjk/w3S9Ld1AvFZTkzIl82haEmQrksMFuxklbHiMl6VNI6+EjgyqBxVfgjsukp2WQdqpodLypq6tWJxltpHu84djS9pQErzqJlOJI8tNyXcn48g+IPKZwtask4L9+2RrKKs98p2GNNlPeU+3tLOO6ZnSzJNHa7MwFMNTT0kMBsxneMIVYOTZ8ZMVayjH8KfDhUiWxENj0pmzWe+70LtPrpiu73Jkpp0n1XU62gdkkcJfvRsAp8LljfVanm0f1DAYVbpLyQdKE4c7lWoqEv29FQ6Dh85ytHI9Rvhenb32Iz3FOpnvMV2XS2bLQOX6pANb+rB3Z2f2+x+5ta+RrN3vr/51r03uyRsOhLvjOySyLJQ1eaByM9l1odnkVSshpWdF87B+bhQDOEmkDUjt/N2U8gDlZKtRjOMdZsPdYHbNB4/3VmPdJF7z2yqY4qT8vz1mc50AnNsLTeaXSl2E5lzSZfGwvIw1ppXpPw2M5FUCX5uoQ81Kqgx5+2d8oYXuCU7m1nKvjqZmUvnSlgG0oWepiV7t3/4t593ae75VZo/XTPrJXNcqc0VYE8ynwb6+WzW1Wr2fyU+6B3wvuy2rXnXkObdcWpgTCuu5VnGaX4ndMJdXnofzXM77FESrYR9TI/7t6J905PZeUx5v7tlNNbBFgCAAAAAAAAAAAAAAAAAAAAAAAAAAAAAAAAAAAAAAAAAAAAAAAAAAAAAAAAAAAAAAAAAAAAAAAAAAAAAAAAAAAAAAAAAAAAAAAAAAAAAAAAAAAAAAAAAAAAAAAAAAAAAAAAAAAAAAAAAAAAAAAAAAAAAAAAAAAAAAAAAAAAAAAAAAAAAAAAAAAAAAAAAAAAAAAAAAAAAAAAAAAAAAAAAAAAAAAAAAAAAAAAAAAAAAAAAICm/B90T2c5GFjVEwAAAOd0RVh0TWF0aE1MADxtYXRoIHhtbG5zPSJodHRwOi8vd3d3LnczLm9yZy8xOTk4L01hdGgvTWF0aE1MIj48bXN0eWxlIG1hdGhzaXplPSIxNnB4Ij48bWkgbWF0aHZhcmlhbnQ9InNjcmlwdCI+bDwvbWk+PG1vPj08L21vPjxtaT5tPC9taT48bW8+JiN4QTA7PC9tbz48bWk+bTwvbWk+PG1pPm88L21pPjxtaT5kPC9taT48bWk+ZTwvbWk+PG1zcGFjZSBsaW5lYnJlYWs9Im5ld2xpbmUiLz48L21zdHlsZT48L21hdGg+/2xI0gAAAABJRU5ErkJggg==\&quot;,\&quot;slideId\&quot;:262,\&quot;accessibleText\&quot;:\&quot;calligraphic l equals m space m o d e\\n\&quot;,\&quot;imageHeight\&quot;:18.88},{\&quot;mathml\&quot;:\&quot;&lt;math style=\\\&quot;font-family:stix;font-size:16px;\\\&quot; xmlns=\\\&quot;http://www.w3.org/1998/Math/MathML\\\&quot;&gt;&lt;mi mathvariant=\\\&quot;script\\\&quot;&gt;l&lt;/mi&gt;&lt;/math&gt;\&quot;,\&quot;base64Image\&quot;:\&quot;iVBORw0KGgoAAAANSUhEUgAAADoAAABFCAYAAAAbz/U8AAAACXBIWXMAAA7EAAAOxAGVKw4bAAAABGJhU0UAAABEsZUXFwAAA/9JREFUeNrlm2FEnlEUx49X8koiySSJ7MNrJjGZyT5EJpNMzLwysy9JkrxG9mHStySTzEgmSfoyk8yMTJI+xLwmSWJmJsl4JZMktnPtPna77nPv89z3eXvOc3f4f3ue8/p1n3vOuefcAJJr11BDqLeoE9QZ6hSVR02gGiDh1oiaRZ2jfmvE4DuTCFiOGgsAKMMmamWbUbsKkI+oh6hK/lwFqg9VEJ6ZSApkP+pCAtxDtWneyQrP5pPwqS4oVnGJr5zOUsLzp5Qha1CbCsjxED68d86pQtbzT1OGHAvhIy0FJHJ2HXWggJwM6adDeHeTGmQGdaSAXLTwlRPen04C5DqqzMKfuL87KH2uKshvPCjZ/NE8Hz+oQNb57MlfqJuWPhcFP88oQNai9n1Kt0eWPu8IPg549I3VWMm25QNpGzzSUlrqjRsyxWtUFeRny+DDbE7ws0zhk53VnDSaLH0+F/wc8m0Rqw1rjlSPiyj6PR9nfJ/Gavc0kEuWPnOSnyyFXFnwgWS5rtrC57TkZ4BChN3TrGa7RVpak3z0Uwg+yxrIsKmkU6qi2FmzmwKkLvjsh0joNVL68KJrKwXI24oWiKgg0THF/1gFRa+olgIkCy7fNZCTAQCfKEpElmsHKR27li0/WfaJjvBILL/HfJa8ddlsmcBValOsXic/dah6tjtXdaas4xXHJuhbjN5Z8FQD+VpIOT3wt8t34vPs7lUXAHJtus27cQ941EsLK5M3rOY8P7XogtQGqiuO/cZq0J8QfAxgI+Z/KuQWKYlVoUZ9Wh62+oqa4fsvRa1T5wWOl6j3qGMINvRh+3aVg2UhoSO9EQPkF3DAmgxRlumWC6BrBshpFyCzBsgjsOvLkrLKABH4qQurOWmA3HIBMmOobJhaXABdMUDOugDZAeZbILUugG4bQEf+h3TCxnzlLoDuGUCzLkD2GiDz4IjtGkDvugB53wD5wZXVXDeAZlyAvGGAnHNlNac0kKwMbIzod6ohxlE8a5vommIzEf1OmXCufRUHaJdhNZsi+h3xusw2/Lt7e2U2D9FPqGUblw7q9XGsaEEDGsW4bhAuX6CKpbfUUuJDdY/kM7ZL/n0a0L4ifbNR/nmE/oqyBU0Qqi7CbytcHiqNQcy2WoJyLyOlqzcUCoVjH9CcpT+Wig4FPytUKqIzH1CbgSyrnsSrqp/A/r5f5ObX5QvbQZDvyLPZZwUQMr8pdBhrhstN7o04qh7bo1nQOWa7VHCsUYRkNgr2k7Gc9OmzOWoaiFqDzz6dMaQPebqWiGb2C59VZYV4HX+GBaduXuRfSIXFACTIFiD83YQdIHDpwsaGNFFYvnc7DAQvXoSxKg78jldN3v9T7/Bzaxd1wD9Zss+PkyF76QAAAH90RVh0TWF0aE1MADxtYXRoIHhtbG5zPSJodHRwOi8vd3d3LnczLm9yZy8xOTk4L01hdGgvTWF0aE1MIj48bXN0eWxlIG1hdGhzaXplPSIxNnB4Ij48bWkgbWF0aHZhcmlhbnQ9InNjcmlwdCI+bDwvbWk+PC9tc3R5bGU+PC9tYXRoPneM6sUAAAAASUVORK5CYII=\&quot;,\&quot;slideId\&quot;:262,\&quot;accessibleText\&quot;:\&quot;calligraphic l\&quot;,\&quot;imageHeight\&quot;:11.04},{\&quot;mathml\&quot;:\&quot;&lt;math style=\\\&quot;font-family:stix;font-size:16px;\\\&quot; xmlns=\\\&quot;http://www.w3.org/1998/Math/MathML\\\&quot;&gt;&lt;mi&gt;m&lt;/mi&gt;&lt;mi&gt;&amp;#x3BB;&lt;/mi&gt;&lt;mo&gt;=&lt;/mo&gt;&lt;mn&gt;2&lt;/mn&gt;&lt;mi&gt;&amp;#x3C0;&lt;/mi&gt;&lt;mi&gt;n&lt;/mi&gt;&lt;mi&gt;R&lt;/mi&gt;&lt;/math&gt;\&quot;,\&quot;base64Image\&quot;:\&quot;iVBORw0KGgoAAAANSUhEUgAAAbEAAABGCAYAAABCMKqkAAAACXBIWXMAAA7EAAAOxAGVKw4bAAAABGJhU0UAAABEsZUXFwAAFLRJREFUeNrtXQ9kV90bf3xlZjJmkiQjM5NMTJJkRpLJTCRJkkiSTCJ5zcxEksxMJDOTiSSTvCJJksQkmUkkk8xrJDMzE7/fPTrX7m73nuc59/y5936/z4fjjXffc+4959zz/DnP83kAGHnjTNBeBm0laKtBexW0IzwtDAaDwSgytgdtJmj/S2kDPEWMAJ1Buxy0Kang/JQKz5pUepaD9jVoT4J2O2h9QavjaWMwGC6xLWjzCgEWtrM8VTWr4AwF7TthjyS1NSnUungqGQyGbVQQCyzahNbdxFNWM2iU1tRaRuGV1N4GbQ9PLSPAM4v7Kq39lh6CFXl+Ce/Bw6DdCtrxoLXyMpQfg5qbgt2KtYEuA8uLcrAM8hTXPK5LobLiQZipmtjn94J2kJekfNghtRSdBf/G01b1OCsFjevD42nQ6nm6GQGapWX0JmeB9ilop3k5yoOxmHY8HLQt8MfFeADS3YydPHVVi4ueD43nQdvE085IOZd03NRC+LTI8wvkf4Vw7AnaNfk31P4+Bm03L0WxIYRVeNexBMmX7puDNpewwJd4+qoSvTlpv5M89YwIGuSZ5OKKo116ACj9Ci/VGV6O4uJ6ZLG6FX93iA+dmkCr4uD4ErQb8CdcfmtE0xUQ4fO7gnYsaKPwx92cRZBx5CsjimkNCywLTgI9YOkyL0cx8Uku0A3C335NcAExqgvvEz7eWanE6EJY9e80hdhP6fphMHSEWL/BGEc09mcvL0mx0C4XZh5oiaj3Eg4cRvXgQsJHOxqzuLL2qxN5dpuXgiExR9wz7YbjUKOzF1nJKhauyIW5SPz7U7EFXeEprBo0yA80ur7DFvvfL5UeykEh9tVmXpKahwj0oUTHzlsaax5YySodnsuDhUoHFDe713gKqwbXY2v70MEY3UAP2T/HS1Lz6CbulXFH30BaWwamUCsMxKWmDgVQMwuxqoRwF0YTmr85tISobpvHvCw1j3+Ie6XP0nhtQHd59/HylNe8j4eeMsqPeEj9YYdjCQ2W4rZZ4mWpebwAGutLg8Uxl4lCbISXp7zgO7Hqw5PImk57GO8K8aBgl01tK8yU0PfXOQhO9hRUkRBjbbm6Dguh1bZ7GHML0O7Gunl52DsAfjlcnxDHfcZLxEKMUQz0QT7J6+8JB0UPL0/NYpQoTPaxEGOYCLFFno7S4w7Yy7XRwTgLMYYCn4GWGG8b1LIwT3iJyolKbCHneEpKj9eQD/vKecJBcYSXpyaxnShIXKSBUOnS7vIylRP1bFJXHSbgD53YYc/jHiccFMweXps4RxQkpyyPS02u/p/cv4wSojG2kNM8JYyM6AM8dLrC01STeEwUJLbpn6gcir+BqadKi72xxXzEU8JwJMTYVV2bEIoLJVfro4Ox7wO99h2jpIhrKg94ShgZcQy4thjjbxwkCpKblsdtAjpJ9SEfE7FNanoD0loQl3W6/lNBu3Nemra/4E8ujXhJUZZCEEC2WNA4TsCfy0nBYLAqx/gi+99WwA12MraY9/ibY2TEaeSgOMFTREarVArEwS6i5pZAnzZM1IIThM+v5O/D8+6tPEd9uc+GchIkt8Ft3TKlINgnD1dxoL5QmKJUoSOCFwYJJu0KZOPPEs8sGAsWAA8fPVCgD0XMSzzs9TqfH4yMGFbs/TW533xCnCOXpAUoApYW5Te+Cn6rW6sqSggGE5EALgqHjkuBs2p40IrgmX8Jz/Uf2M/JSgKl/twK2L0vFe9FCej4LYV9Zoiggh4pAKbgTzFHaiTJFw1TVqci7armS+0HWv5DEQsEjoH76CBG7eChYt9PeXoG8e2Owt8laPJsobK9RSrJg9KbNK/RxzXCu4tIvBsaZ2h4Hm11uB6NxOexmaMlPF4/iO9/1XQwE41olND/9Yx93yc+/2DG/ocLcOAcTXm2Y3wWMzJCVeywy/HYwv02DcURXGH7JJ/vuGE/WNK6OLjfZ+z7lsN1OUF8hguWxmvRMFqsKFYj0hoYk67Dx0C/iDuK9D1usGGwgmx1QA8Z9RWFo4Mt0pXAjAoMW9is2O8fHI99JQcXIbXdiLi3HkgLTLg2f2n0gXmddiu+Z0qbdbg2E8Rn2GlhrF4NC9wp2W+T3PSqB1iTpnOaSR2nGXkk3YoVaTq/JPSfhvqE37+VmpYYu0FuVsz/myee5agxU3GooIeSi1YNdDeqyERXdZrqDZVJH011B94GNEokVdXhfbCxurZIcr8I60Fk7dIaxK5QXGGB8H5fDcdoAzo/ojdP2BnITtQ4HbOokjbRzoxCRgip57CRLPd0iiDOKiRd4wLybA0FORRZiJULaRr3e4eW3+uCryuFB7AO8PIkaYJwb8yiG05R7vflJMTawR3dU0V6455prMd38BRKD1KTUD1Mf8rvohbQSylM0qDqfyblN1Mx7aE1Y/95key2Edy1RWFUYCFWHmySCl3Su+11NN6LEqwrNedyKcNZ0RZxIS6D+nqlAvkUK+0nztMd6QGqU6z3LlhPsXoC9Gun8P0GfSvok8hDJUUPRnMRHiKHcTPS/0TCbwZj2mUzol2p+s+D2qlCcNMWqSAmC7HyIM1zMu7hfFiTyqUIIOiEv8P4kyIAh4jjpNVIa7X8Xaqi98ZTnit8L2GJ7SeMgYXau8DzDN/CmhQ6S1I4r4FZUE0/6OfXWYHKTZAUdHFSU/vB6HHOxP4+Gsn3ljAp+5H+h3KY05uERS9SGRYWYuXBu5SD0UUqSZQpXwgzFYFAt4YSTPUIfbX8Ppirry9BQX4TUToPEsbYhozxw5G1vOb5O/ot5+Y6+C1BlKg1rGloJnsipiU14gQLjY9qWjtg/eL0E+KiDIExNh/0PKdU2pcXLMRYiGniAGSLHs4CEYUXsuBQ8hknIT3knYK34L5cxyDoBbBF7x6pkcQ9yP5bcLBWPZ6+HXFtJCJAeyE92M879mhoJk0Rs/q1xkuoIlm+xQTqu4i2Qk0KfAj+MtMxNAE9qbJIhykLsXIg6aB3QV1WkQJICDFKTbLGFGWY6gVpAT+Rlq8U++KRQjnu1xjjEvgP7Bghug6PSk+aYCy5I4X0I6CxfBQ2r/UUYi5Gfd5hJOIXTdfFMtHSuxkRPJ0a/asuah96ns8pwCN2mPyXkQVJbvkPkH5Bb4IBzUMr7eCmfsf/EC0jEzSA+j4sGvncAeu5cLrfKZby88XBes0RrSjV3FCCNwpZ/1A14a8ifxeGiguB0abR/y6ipRd1k+hQMe1F+j/vcS5PIs8irM6rjjVoRnWiAf5mRlgEcxLtJAiheB/0WB1mwOzuZ9bDgXkMUdibInMdUtvNgj4HJZYnNmr5vbA7OCqVFoWw4je4pc2yLsHDl26NSGld8/4MYt7WyU3zFbJFWGFUVzs8zWP0Lk+V2HxXY1MxGCFuJxwm3QV5tg4wo5NL+/1Fy8+pqnX1OuHvljUV9lAAmrIf6eIsUYhh6RcHLAlDr2hEHla4AioRLWskwxiq+6qn8m/Cg/1zBq3npWezPQ2vkLkcS7B8T/PZzCAg6XA5V6DnGwGz+6y0SF7bEW9fAM+F7TP8PrFIbNsuUuyM1UkEh4gxUZpiqyrz+r+YpfMp4+Sr2I2FlXYooll2avaNhZXe9TSPmDUo3EBhmkCUtuc4n88MBEmBQkMFej6h5C4aHtbfPSigrYBzCUY5TrPepY+C34hkMf9LBMFDfZ9/iNbY/qJswDFQV4Vtl5tRt1xK1MWm0ki2RSR/lrpaWFhpn4c53AN46YOo2+dfcBsWzaguTGd00flCGls89T6rK+X3I5af8zzgBOGhgikU76w5d1iZqKuW3wvLkdWNM9gBtFIuhdmHqgtIkZE/YzjxqsqzTyNuiKx8b3dAfQFZ53j+6gmb9q7CXD/MZzRDgQFQh4AXAWksEZeJv7+X8nvb34aKuHgYNpYwyTo2JcBit+X3opan2m5hTeOpS3V5b75GRACEtFLvDMZQhZuHAkhYeW0Z+/8ItMjKPCzZkO0kzjYSTTc4AAxGMo5C8v1xkaDytFDus4Qr7Be4z+2sgDrNR3h0FsH8CgILsHBBN/WGIHB0S79Qa7GdzXsDnkAO3yUwLyWdVhZAuBLDS9aBjH1vgXwjaCgZ8klJolFTvZHPakYCOmHjPYfQjDcV8DnT7k++EX/fC36S0VUMOj8iyvY3MOP9wwIsJi2/12aguf50Q/rT7jnzMBSUoOQE3Dbov43Q/zeDjxOrYLrX4dypilyqiETj4bf1wGBsREtM+XtT4H2SFslGtWbSPDW2czuHEIVdpXTqACu8ecLyex0jWkxZ7t5HiH3vzHMDYtRIPw0thXOECTCJznsA5uGkWYHV1PmeMndxiq9NwGBsVI6iguEd5MQITkAXmAVU1UN6ZLHt3E6Ky8208jBGuhBNpvZpiGQN6e8gCrHcImUpxdP+MRzjEeC0/SZQVTB1STV1AbK5EQXiLkgGI4Q44KJ3vOLfzQV+3gnDQzONBGHW8nNSXG5rYM58gqXZuChW+gPMqKYwfCT0/z2vDXiZYIWZaoBY7kKvQyF8ytG8RZlLdGqjhTjOQoyRctBGiX0/S6usqGhQWFHU0Pq0CDjbofUUl9ttC+O8RMYYzsEQMY0NuEQc41Aem/CZ4wnHavZ8Nuwfm9xtDuaMUuRSaEaNGtpnkcAs9vlAhClHqybPO9q/NqHKuaLwLW5RWEe2cycxl5sQxqZcgJsI1l6XZ0PERmxAE9BqlE353oAYy4VYDFOfNJb1bcqJpirt8tHRvN0gLCZWb2iQhRgLsZhi9DSmBO2A4uM9mOUjXQZ/lEzfgEYHZ4JewHOqbJeDegr2qKZUoFBarYHnSGtswm0wR79EFrTe8MNXufRGHMwZpcjlRAatkIVYbQux6AEhol3boPhQVaWg3vu8Bfv3N0mgREjb4GfEIvlsJ6lTqzg/9HguXPS5Ce+B26JnmGltSleCCZQjluerEfBIThFkQrmEn2IhxkJM4n5MY+6AckDFkkOhjtup+P2A5We9CH7ynGbBbzmoI8R9fsbSeN8JY8343IQLiPlpavZiLM4HDfsfQsxa22b7FGEBqUEq0yzEWIjBxrIqIgBqn6dxxV3baYNvpALq/MhWQh8D4O/e6Am4Z5ygUE3ZdhHfIe7z7ZbGGyaOt9vHJu704B9WUTHNW+j/jWNXaBQnwO6l5r8sxGpeiEXvRVcsKHU6CNNeOjP+XsWF+oHYxwdDBbRJ7lUsGEP0tap4XvH/bCSRnwL/VZw/Efa4zVSFVuJ3dcfHJh5wbCUBqGv2mL4kVl683+JcUYpc/gd6uTxxtyTlElskSAu6mr2O9wYLMffojx3aPgmgw/SOrPmZQiioyK6vGFotVNfeMFEQd4OfiDos8CGvKs62x31NGHPRgSfsL7wDdXi4KbCLVNMaNJirEuN5HNBwWbwiLJpuqZc4LQ0lgz8sGJorvQvDGHFy2F6PY++MKGSXM/ahYksXiiUlr+0kmPEKNkv36wLhb29Y/nbTsGA4zjlN44FaxTmv6tHHXG7kZmRwG1F9/eCWwVnlqsQ2dpijJT5mrITAVXAT+ROPqsSSBEUS7LIlNywjP8QTbk96HDtKZbUG2aiPMCudyrCvoop7QPj9hIaVoUoDsBXKvxnMKJ9Ca/GXhmuTEvL+G+ynKtQBTvTg4kqHrAXFCzdmhaoOzbiF/mczfgQHYD0kFSPh7AA8cVHXjRgi7qPHnuW6xblj5IOe2H4673HsDtjIxZhF8ToC6jImOowNqrsc7E4teveEBRA0gp+Q96OQnfKpBdaZ4nX2BKWK81tH++k+UYBudbWhVRJ80UL/WO6Cqfm+FbKFsbbAekQVFt5PKXJpYjLrBNI0RVxAvcAoI7pj2usVx+OJ+4hWqRxNJyhjOvRAQhBQouC+aDwbphym3XMdj5wtbwhjYQFZtmjpriDjDCgsuNkMArWL6NIbc7S/qFWkr7na3MuOraQ+x+Y7VqitK0UQzMF6HgNmso8RFshEi4t/xKq6S+MRV0MFGGXDfqLW7KtRa3yJYJNJoutIJ8l1M6GvH5HvuCKFbpxInHJ/NAF+2OQx115a4E5I+/cV9JguqOVRTjjc13OE8eddnFlYpI6NS0CVqfnCQv93kXeoS9Ak30Xcf1jOBCWBMKsbMUTSwZCUkBgtYzMKjLKhA/DIVt+Nkkg8pdnnd43DqsvCO1DvW1TBFjYLOc5onkkCIdnECugluG8CWqFKF0EdUVwjPoN1t7nKLbBqSWqqygJctdA/Fi0Ydz2G+SjCAsXC0ylFLm1oOEk8bmIzX5CbVGir8cTCdmCUCa3EveS7YaVGzmXo85zGvOwyfP5loJVLwdjdbabhYNZqRaGI67o0+zXmqs/h/t4KtGrSP8ByLbzP4PaSE9ugHR42TLvUfM5HDhFqLs40+Mkteqz54T4CRpmwHWg1nnw3iifkvWafukTbdYbvQKVQwtjdbaaqYId5eDckAlGieVa3NMdp0bTsBx3v86fE57hnUzN0fcmpCklf9LRhkizMHkK/lCKXP8FOxM1VzedvBUZZEK/KXKSGeRAqmt/Xb8iWfD+X8fl10n9UCumc5TX/leFddBXTVsCZ+JOuPbY73Ot9Gs9iJcjjMri/5FS5+mxVWdZx0QjB2UXcIJQLbFvRTC0a73AFGGWBuCf9BMUUYBQ+VF0r6UbGeRrK8Pw6hOEVUEdI37K87rqeFUE7Rw1wE56lm6CmzsLWfQDcXEdUgH4/FwpuIwtYlbtl45ITo4I6a2niJogTJoI5dhAX4gOhv2nLG2CSMOYkMMqCSgZXnM9GtWKokZQmQVrNmsqoLqs9lpRtm2D4sMa7TBIEmLh2EdcWC5b3wIpcN5vFK+9keI6P8hku6QyElUWxEXCBhb7bYnBuRT60n9J6oQapULRCW27EKJoQt8pNlgulQh0UV4DpMItTvocZC56bgwQ3nFAK9mTo+yaoA0NcACttJc4saqRej4f9YAsmgTpPavnA2CUnYEma2QvSpD8LOJVUkRAmki7I95iXbpMOYDDysyinEa+NrWgzcV8zJvf9qhQwM9JqPFDCuRNsSK+lxbMqhbQIfugHzxWPGQwGo9YhogDfyAM5dEOd5mlh5IH/A9kEF3rx4ogNAAAAsnRFWHRNYXRoTUwAPG1hdGggeG1sbnM9Imh0dHA6Ly93d3cudzMub3JnLzE5OTgvTWF0aC9NYXRoTUwiPjxtc3R5bGUgbWF0aHNpemU9IjE2cHgiPjxtaT5tPC9taT48bWk+JiN4M0JCOzwvbWk+PG1vPj08L21vPjxtbj4yPC9tbj48bWk+JiN4M0MwOzwvbWk+PG1pPm48L21pPjxtaT5SPC9taT48L21zdHlsZT48L21hdGg+3vJlJgAAAABJRU5ErkJggg==\&quot;,\&quot;slideId\&quot;:262,\&quot;accessibleText\&quot;:\&quot;m lambda equals 2 pi n R\&quot;,\&quot;imageHeight\&quot;:11.2},{\&quot;mathml\&quot;:\&quot;&lt;math style=\\\&quot;font-family:stix;font-size:16px;\\\&quot; xmlns=\\\&quot;http://www.w3.org/1998/Math/MathML\\\&quot;&gt;&lt;mo&gt;=&lt;/mo&gt;&lt;mfrac&gt;&lt;mrow&gt;&lt;mi&gt;E&lt;/mi&gt;&lt;mi&gt;n&lt;/mi&gt;&lt;mi&gt;e&lt;/mi&gt;&lt;mi&gt;r&lt;/mi&gt;&lt;mi&gt;g&lt;/mi&gt;&lt;mi&gt;y&lt;/mi&gt;&lt;mo&gt;&amp;#xA0;&lt;/mo&gt;&lt;mi&gt;s&lt;/mi&gt;&lt;mi&gt;t&lt;/mi&gt;&lt;mi&gt;o&lt;/mi&gt;&lt;mi&gt;r&lt;/mi&gt;&lt;mi&gt;e&lt;/mi&gt;&lt;mi&gt;d&lt;/mi&gt;&lt;/mrow&gt;&lt;mrow&gt;&lt;mi&gt;E&lt;/mi&gt;&lt;mi&gt;n&lt;/mi&gt;&lt;mi&gt;e&lt;/mi&gt;&lt;mi&gt;r&lt;/mi&gt;&lt;mi&gt;g&lt;/mi&gt;&lt;mi&gt;y&lt;/mi&gt;&lt;mo&gt;&amp;#xA0;&lt;/mo&gt;&lt;mi&gt;l&lt;/mi&gt;&lt;mi&gt;o&lt;/mi&gt;&lt;mi&gt;s&lt;/mi&gt;&lt;mi&gt;t&lt;/mi&gt;&lt;mo&gt;&amp;#xA0;&lt;/mo&gt;&lt;mi&gt;p&lt;/mi&gt;&lt;mi&gt;e&lt;/mi&gt;&lt;mi&gt;r&lt;/mi&gt;&lt;mo&gt;&amp;#xA0;&lt;/mo&gt;&lt;mi&gt;c&lt;/mi&gt;&lt;mi&gt;y&lt;/mi&gt;&lt;mi&gt;c&lt;/mi&gt;&lt;mi&gt;l&lt;/mi&gt;&lt;mi&gt;e&lt;/mi&gt;&lt;/mrow&gt;&lt;/mfrac&gt;&lt;mo&gt;=&lt;/mo&gt;&lt;mfrac&gt;&lt;mi&gt;&amp;#x3BB;&lt;/mi&gt;&lt;mrow&gt;&lt;mo&gt;&amp;#x2206;&lt;/mo&gt;&lt;mi&gt;&amp;#x3BB;&lt;/mi&gt;&lt;/mrow&gt;&lt;/mfrac&gt;&lt;/math&gt;\&quot;,\&quot;base64Image\&quot;:\&quot;iVBORw0KGgoAAAANSUhEUgAABSoAAAD6CAYAAACmqnk2AAAACXBIWXMAAA7EAAAOxAGVKw4bAAAABGJhU0UAAACOyiQ8uQAAVrZJREFUeNrt3Q+kF8v7wPHHcRzJEUmSJK4kuRJJkiSSJEkkuZJEkiSJXEmSyJUkiSRJEkmSJJIjSSK5kiSSJEkkSY7E/X2e79n9tW27M7O7s38/7xfje7/3fs7+md2d2ZmdeUYEAAAAABCaTBYAAAAAAAAAqMpAL83rpfW9dKyXrvXS1176r5dWkD0AAAAAAAAAfBnfS8t6aW0vbe2lszLWIfmyl37IWKdkUppE1gEAAAAAAAAoapuYOyJN6SnZBwCdsrmX7vbSt14a7aWRXlpJtgBA/1iVs2HQtLSaSwkAQCtpHf6klz4FjdIs9f8psg8AOmFaLz02lPcHyCIA6A/Te+lkL13spVvyM95T29IELiUAAJ0wJD87L231/1qyCwBab2ovvXEo87eQVQDQn7Tzcm8vfZB2dFK+45IBANA5cy31v04XHyabAKDVdLG0x47tPh15P5EsA4D+NUPGYoO4dhjqdK0jMjadfDiodEx0xMQ4GRsNuST4O13Nc1cvXeil++IWs+oKlwoAgM4ZZ6n/H5FFANB6ByXbIBWmgANAn7uSodLYWML+B2Ws8/KBYb97uUwAAHTOeMt7xz9kEQC0ms7kyxqb+DXZBgD97by4D8Mv26aUfa/iMgEA0DnLhIX0AKDLTsmv4TwO99JkGZuZt1jSp4TPJ+sAoH9dFreOyssVHc/fCfsex2UCAKBzdog5PuUgWQQAraUdkt+DMv1LLy1N+I2GE3ueUAfsJPsAoH+NSH3TvpNoXMvo9ICXXCIAADrJFH7mPtkDAK0WHYCyzPC75Ql1wAWyDwD6l2vMkEkVHtP1yH4vcYkAAOikL4b3jsNkDwC02tOgPD/i8NtXsTrgNtkHAP1pmrh1Uj6u+LguCMP+AQDosgWWd48VZBEAtNbsoCx/I2Mz5mzOSPXrIwAAGmi9uHVUVj2q4Vxk38u5TADwv7hOOtp8CVmBjthveO/QmGYDZBEAtNaeoDzf4fj7v2L1wDeyEAD601lx66hcVPFxhSMqCaQPACLTe+lzUC5uJzvQEaYY2XfIHgBoNZ26raMihxx/v1J+/2AFAOhDr8TeSfm1huMKg+s/5RIB6HM6quxBpEz+kyxBB+gqrz8M7x4HyCIAaDVdiHVpht9PEjoqAaDvzRK30ZSXazi2G8G+L3KZAPS5aMymD2QHOmKd5d1jIVkEAH1lMFYPjJIlANB/dopbR+WmGo7tRbDvrVwmAH1sb6w8vkCWoCPOSbNmcgAA6keMSgDoc9fFraNyak3HN06ITwmgf+1IKI83kC3oiHfSrJkcAID6ReuCL2QHAPQXjXn2XeydlP+SVQBQuT0pZfIksgYdMNvy7rGFLAKAvkRHJQD0seXiNpryKFkFAJU6nlIePyFr0BF7LO8e08giAOhL0brgI9kBAP3liLh1VC4nqwCgEhN76aahPP6HLEJH3Dbc5y/IHgDoSwOx+uA5WQIA/eWx2DspvwUVhg86OuJ8Ly0j6wHgN4t66bWlTF5BNqEDNPa0KfTMSbIIAPrSuFh9cJMsAYD+MVncRlP6DGZ/VBgRBABxw5I+1TuatGNngOxCB6y13OtryCIA6EsTYvXBdbIEAPrHBnHrqNzmsSH+ReqbSj6zl9bJWGfpteBYhjNuY04vHe6lkeDvtdNAR5w+6KUD0rwFLnQE60YZG8WqU+w+9dJo5Ljf9tLVXtopYx3XZRrqpZUytjjCuV6600ufM/z93F46HRyzHv/7XjomY9Nky6Ijflb30qEgn5720tdIHo4GeXonyOPNvTS9gus6O2jk7+2li8H9Nxoch8/y4XFwnl+Dl8R5HSwHp/bS1iAfHwfPteblj+AZeRxc2w2We+1QULZNybh/fe72yVj8JZfy+EYD8mxBL23vpQsyNsrhY5BX34N80/vlmYx95NrVS3/UcIxtLG+aWna73MMbgmO9G+RzeKxfgvryQELenRJzh/wgr2kA0JcWxOqEK2QJAPSPy44NY1/B7PeL/6nkaQ3UZZEG6kjQaIqf14MM2/yzl2455NWHXlrYgEajdmD963h9wzQaXKOiBoIXDG246gixa0G+JO3zrsP2tPP3opjjmPnsINbjXy9jHXPfM+ZhmB4G99+Ah3t5VdAZoXnwxOGYNnjIg52G7W/qSPk3MygDf2S4rj+C8uSgjI32Wipj07CPRp4h12dUP3g8zrh/l3SopPxaGpSnH3Me10iwDd/aXt40qezOmu9bguvqeg/rdZkb2cZLw2/vCgCgX62M1QkXyRIA6B8fHBoWzzztS0cufhL/U8m1Ybc26DjQr21vMjTu9jlsX0d0HMnYmaDnOaWG66mjls7I7x1Z92RsZE7YuNbOLx1B9iXl+M9k3K/G1DsQXNfnGfPqoGXbSxzv09OeGt66Au1bSe6guhTca+Miv58TdAyNphzXKxnr2MsyMkh/qyOl3uXsEPrXQz58EXNn3ZyWl33bJbnD921QLvwpPzuZB4N7XK/zew95P93xns6b1nrMJ82DnSkdSnpva2frsqBMCX8/P/j3n1OOTxsbEwocU1fKmyaU3Xlo+bc35VnQjvfdMjbyOnx+dPT3ichvXgfnMdND/QwA6KaNNdRvAIAGmOfYsDvhaX/HItvc7Gmb6ws26Gdbtq9TQh/l3HaVMTi1EXs8ocGuHQmmEUy7xM9iHdcKXINllpcU106IonH7lkv66J6HDvfKipznfy1hW9qI11HHd4L/riltVHBaWlwgL+Y4bP9ci8u+AynnpCNox1v+Vj+4mEaiu3yE2SjldVL+J/46kdcFZUh8+++CMtz2vOnHmgeS/gEs73TlLpQ3TSm7s9osyR9QHjmUOdF4lNrZut2Sx/N5TQOAvqQfxF7E6oS/yRYA6A97HRtkPho9C2PbnOrpHHS7OjpHR1JqnLTPGRqsLy3b1hFVRUY9PavoOq5POc6rYo+/OcVw/FliwegIp5XB9nSfs4IG7csCjf1N4r/jOc0JwzbPZ+iQuCJ+OirT6HHo9FaXUcPnC9xTww7b/9jScm9Vyvk8l58jZV2cT9nOMQ/HaJpafaKCPNJQH2lhLi5Jtri+Ew3lwDPJHiO4C+VNk8puVzNkbHRnfF/6QWV7hu0ci5zjdTHPSgAA9Kek+MV/kS0A0B/uSjWjRnR6V3SK2JOSz0sbrTcdzs3UobBQfk5TD0e37JCfHazaQH0q9phhZZoQdBok7ftUhu2kHf8XD8c4VczxFG+l/N1qydc5vCDj8Q1bnoOs8XDWSbkdlaFJwXNke3bHF7h29xy23zYDkjxCUNOWjNvSUa/PxX980LmWfF9dch5p51naB5+9Obe53HA+lzwee9PLmzaV3VHaiftVkkfWzs1xjcJjNF2rywIA6EdpdfI6sgYAum9Q3BYJKbq6bNKIkcMVnN+Qw/mlTVNbEGuoH5bk+IILpb6OSu2MfeGhoWtq7PrqiDJ1eP2dkv/f5NcFOE6IfXTrD/kZJ8+FduLdN2zvsWRfcXaGVNNRqaaLOY5kns63eIeCaYTatw69/GrKszhK0nT/lQWPcZflHi9zFWTTyOKiIxlMHes+F9hpannTxrJb77WzKft4I/lnRrx0KBcZOQMA/Weyof5dRfYAQPetdexEyTKlS6dNzg22rSvgPk/Z5pKKztHUifPR0IgMK8ivYh69NGDJuy8lnZfm3ydJj7GXxTQpvyPqjmEfi2K/1Ybv+0hjO9pYXWTJ73sZj+uqpaE/M8e52u6JZZ7vBVv4hlsFt6/Tdi9IOQv21OG8Ia/yio+sHlfwGE3xF0dKyhfttL9t2O82D/vY5/HZbWN507ayWzvu0z7kaB35R4Ftu8x4mCoAgH5jqh+Wkj0A0H0npdzFHNLS14rOTzuMTIsiJC0Eol/xwth/nxMatUn7MJ3rhxLOa6X8OvqnaLy3DYbj9zVF/5OhMT0Qy8+HYl65+LTheLN0gNsWcSgy6resuJFJhsQ88uuH5BspGLc64TpeamG5968hr/KGuIh2Fo96KLe+Sf4Vq/PQzugHhn0e9bSfVZZnY2aHy5u2ld3aSfjckI9FF7mxdVQ+EwBAv7G9m48niwCg+15IPR2VVcWdsk3LjjdKtcPnfqQh5tIInWrZxzvP56QN3bTp7NpBMivHNk2jCk96OOZBw/bjI4iiq8KnxcLT0WrxqZ3a+Z1lmqBeN9NoW73+RTr3iizglMdhyz63etrPGsk/2ropTJ2AeVdJny2/rnxcxBLLtfQ9mkA7xx4a9nfH875M57aro+VN28puLR9fG7a9wcN1um25F04IAKCfzLK8oxX5oAwAaIlpUk8nZZVxpw6KeVpvPM5bdEqoawwU2wih9x7PZ5GlAt+b8z4wjTr1MUXftIjGnpTfXXXYro7w0w44jYGatVPxmOW6nSpwvoOWbZcR19EWF/OWp/3ERxDPbmHZZ8qnfwpsN4xpW/RDzH7LveP7Jd3UYaQjdSdXmP9XOlretKns1uttih/pqwPxk9S7YBQAoDn03ca2QOQ3sgkAum+r1NdROamicxzJ0CCO5sfuDPvYKdUspqMdUR8N+8kbK/BkCduMOyD2FXN16um74N+9Lfke0Y7Er5JvkSUXf4h9AY4ymBYQKbr6d/RFMtzmq5aWfaYOI33GhnNuN4wreaTg8ZlWoL/mOS9OW+7VNSXkf9nTfZtW3rSp7NZ7/7Fhu0/F30JOo5LtQyIAoLuOOrQfP5JNANB9V8StU9F14Q9tVEyRsRGGOh1UVwpPGu3xqKLzGy/m0SabIr+dG2k0Xcy4n4tS/jTf8UED3rSfPPHC/rTk0XJP1yKt4yX6ZfSM+Fsx2WZDyS9Cqy3b/17Sedni+viYrjkrsr3jLS37RqSc2KQnPOTzoKRPD876EcVmk9QToqPs+MVNKm/aVnbfsJRbczzmiylP7ggAoF/YQt5QNwBAnxgQ+4gyH9MMtVPjXWybhyo6x3ViHtE2MdJgCmN1aoMy62q9Ty156CPG43nLPvIsaDJkOfZznq7DoKFBHU63XBz5dxcquDfOldxBs1vqWQl+spTf8bShYAdLE9i+2uv9OjfHdpcGeTy3wLGttBzbn57yYKaYY7TqfytjxeVxUm4nftPKmzaV3Qcsx3rAY77YQqbsFQBAP9D22Btx66i8RnYBQLe5frny0bGxL7bNRRWd41nDed1L+J123GZdzGC8Qx4WjbO13qFTJc9KuRcM23ws2Tts06wx7Gdn8Juw0a0xy6oIC/DQkqc7C27fNlp5pMRzM03/1nu8aHzDy/JzCmhbLXR4bnUk9HANx2bqRPU55em+5fz3lXR+06XcUBlNKm/aVHYvtRyrfszzORXbFnpmHq9pANAXLlnqg7eRf75IdgFAtx0Ut47KTR72FR3Z+KnCczQtBhBOn1xb8FzXin10UJHGnX5lfC/+O5MPWTpopni8DicM+5oba7BWtYK0bTTxqoLb/2zZfplTpvdIeStGR2N77ml5GfjCofy7WsNxPZLyp2LbQgRoo2CopPOzjRj92pHypk1l98RYQ7CMMjHOFDKFGGQA0B82Wuqe1zI2wj78/2fIMgDoNttomjD5mPoX7cy7VNH5zbScly52otNkPxTsADgp5cZSOelwjbJOvz0i5oUspni+FmkdQtppPRhpIP9b4f3/3ZKn0wtse6nDNVtS4rnNtuy7yEIvm+VnB/yElpeBOx3LwIMVHpOO4DTFHdzsYR/aKfXRcs47SjxHW3zYVx0pb9pUdp+V6keAmz4UXBIAQNdND+pm28f16KJ/+8g2AOguW2M4TE887S/aUbmxonPcJvbVUK8G/19jaOad/mcblVUkztZsh+v0MMP2dDqgaRTLdfE/1XWamEcTRWM5LqvwGbB1VBYZBWvroHhZwfm9Muy/yGJW4QeOLnzRHpLf4+eWObLcxToprwM9dFjsoykHSjzHY1Je/KmmlDdtKrsXi/8OVZsplv1tFABA19kWNjwV/O5iDe9jAIAa2BrDRVe+jftLfl/ApmxXLecVHdWzIuc+pjrkYZGFL645bH+r47a0oZm28qxOtdxZ0nUwxSHTaZevIw3tKn2x5GteQw7b3lnB+ZlGSOlzmGc05LzINuZ0pCzc7lgW/ihQTmRxSsobaShB+Wu7P8texMRWrp3oQHnTprL7X6l+hVVbfMpJAgDosr/FPuV7OKFNt56sA4Dusq147HvRm3+C7d2v6PxsK5prrK1w6uPpAvvZYsm/DwW2Pdvh+uioQNuiCZOChn/a6B5tsM8o8VqYOozDWGs/gvOt0m0pp6Nyh2W7z6Xc0WohW+zUdTm2GS6ic7dj5eFTx/JQO/j+LPlYTCO0z3rY/j6HMqXsKf22+LDrW17etKns/svhWJeWkEc3pPyZHACAZpon9lkH0VkPt8TfAqUAgAZzme74xeP+wtElByo6P9OK5nru4epy0a91eVy25OGFAts+7XCNTCvfaQxOnWL5TdKnHS4p+TqYOow/Bg1SXx0wWdmmn+bpTNTp4m/EPCpvYUXnN2h5Ccw6dXt2yR0XdZovbh2V/wXXd3JJx2GbDrvOwz7eWPZxruS8niXlxUVuSnnTprLbFrqkjDie48UceuMfXtEAoLPGOdQ98UEk0XBGK8hCAOgml9EePleXVeGIpQUVneMhS0dD+M8rC+7HtrLzhpzbHTI0Uv8zVNY6rVNHeZpivtyS8jsoQ6YO43A1XO1Mm1HDc2CLy5ZnarNttFrVq2Sb7oOnGbcVdu4/6mi5eFTcOytHSjoG0yIzPsJm1L3Ik9pm2f/Tlpc3bSq71zocZxmLKtmmfS/nNQ0AOuuU2D8IxweRRD9CLiYLAaCbdjk2xn0Hs59S4Tm6rGh+teA+Fog9pl3ejoXNDsf/LvitdjxrjLI7kj6CTr9EHpLqOwQPOZxHnYuyPDYc118ZtzVDzFNaz9Vwfgcsee86mniOdH/KjXYwuU4B17S/hGMwLZbiYzrsGcs5va8gn69LeXGRm1DetKnsvif1hAF4YNindvIOCACgi1Y51JFJg0iideQEshEAusnWUGx7MHuXFc2/e2j42YJAPyr5GunKvKZpnI+DBu78Gq/FI4fzmF3j8S0yHNfNDNvRadYPpVmdlGqJJe9dOx1vRO6pLtNpyV/EfXEd3/Eq30u502FtIT/K7sQbFPOU36KLNDWhvGlL2T3T4TjLWHBonpS34jsAoLk0bM4HyR5+ZnzsN+PISgDongGHhmLbOyRcVjQ/5mE/d6WckUGu1yiaRmVsdMyp4Pyb8LVxgsNx327Ace42HN9cx22YYpUeqPl5HzUc20GHbUSnyPdDXKBVGZ47n4t+2GI3ri55+5rWlpy3G0qsd5pQ3rSp7D7ocGx/lbDfi1L9VHMAQP1uiv0jXlIdGP/ANUhWAkD3LHdsPB1u8TnaVjTXhmTRaei2hUqKLDjiEkdOY2PuDjoWZkkzp8ptkHpWk81jW8r11GmXpoU9Jkn66uHvpBmx1kyr67qEPwgXIHnYR+WkyxTionFok+5BU5lV9MXctrrzjwpe/m9YjmFry8ubNpXdT6S80CVpZjjUm7MFANA12yXflG8V/4AMAOgg20rHXVjV97Xl3E552Mcayz6KxNnaLc2O6+jqvOUcXjbsePWLbdL0bZ2monFdpwW/0+uq8UkPS/JiStqppNN0hxtyXqYFfj5Y/nZj5LeL+qysHHEsK1942t8Vwz7uetj+Wct5lN0RrVO+TJ1U76RYp10Typu2lN1TpNrRwiHbR8RXvKIBQOfMFPsic+cNf79e6KgEgM7716GB0qRg9rrAhY40ch3p4zK90ceIjROWfVwpsO3LDuewrgX32nvLOfzd0OPWL7e3JNv0zbDTTzsopzbsfBZajnuC4dkL4+jd6MOyUq/jJ8dr72MlZlNsTB/hA2yjGc+XnJ+2qcZ7OlDetKXsXu9wnL7j6mq9axtNeZZXNADoFG1P2kbwvxNz2JP4InUAgI5xGUVRtJPNt5MZG9E7LOc24um4nln2s63Atu9JsxegcTFX7NMKpzX02DUWYLhqvHbUXZKxBR70n78Fx65x5T7KWOfP0V5aJs1dqdYWpzIt9uHByLWaI/3JZQVnHzFvF1i272M060spb9q1jX5oMgXQ17hUQx0ob9pSdp+Q6uNT3pT6Y6QCAKp1xKHsX2XZRvxDJwCgYzY6Nrq3N+R4o9OrXWP9XbOc2xYPxzXVIQ+nF9j+Z4ftNz2Q9B7L8d9p4DFrZ1F01eBT0p2A3abRdHsTfq+dOuE0nTMtPWcdSXo5+N8iHjo8j/dLfF58jXD/KuUu1mOyU8qN89mU8qYtZfc1h+P0GV/XZYE77UweEgBAVyxxKPtdBqLEw4YAADrGZVpaU0Z8aDyTcNrla8e/sY0c0/82zsOx2RalKBoLbdThGjXdbcvxb27Y8ca/+F7r2LO/33AtLif8/lLw37Rza2pLzzlcnGZ/we0scngevxbch2m0ma970bYa9dySroN2Pr2TcjsRm1LetKXsfuFwnJM87UsX5HnvsL97vKIBQGfoVO43lnL/vWNdc0noqASATvvo0Fh424DjHN9LTyV7fLZllnO75On4bB2+Jwtu/4e0u6Ny0NIpov9tXIOONWm04byOPfumZyO+gEX0C/j+Fp9zuHiMj1AWj8Q+GiyvAcvzstNTftjKlLKeSVNsSo3LOaND5U1byu6vDsfpK5TFVfk5Mti0v4O8ogFAZ1xyqGfWOG7rutBRCQCdZYuBFqaLDTjWG5IvtpgtDoqv+FfvC+5HY8GZFt9o+4hK24roTRqteF7aOWI1q0Exd6KEUy61cyKMv/pa2j0VM5ze6uPji23q8miBbds+sJjig+qIBV34aYXDfr7VUKZoJ6SpU2xzx8qbtpTd3ys6zjBm9GP59eNjWQtSAQDqt8GhjskyeOSW0FEJAJ31t7h1VP5V83GejR3PzQx/axr1pA0zH7HBhi35Z9tP2CmhsczSRvm4xDmbUlL+TxL3L5xpTjb8HgstNxzj4g6WAaZYi2FHVzTW35qWn290lcnpBbf1p9inL+V1SMwryZuEowzmO+zHNgWrDHek/FWlm1TetKXsrmLk59KgPtQ0z7IvlzisOrNCR0cTxxIAmkvftz5ZyvwPki28SPz9xaU9p/XOBRkbqAMAaLC74tZRObPGYzwl+acFTJBqVjJfbdnPXcPf6uiicPq9aVVwl9VR15WQ/zpy63Ww/aUFtmOKf9akad83LC9RqzpWBpwS8/Ri7UD5Evz/2x043+jotm0FtzUg5Y3aM60UbRpxEH58OuK4H9sCKr7tMuzrocdyoEnlTVvK7m8Oxzm14PGEDdW/g7LUtK8blu1tET+LVgEAyjXiUL9kneEW/wg40eFvTge//YNLAgDNZZv2GY0XVgcdpXg14XjeiXucLNs0A1+jamyryx4wnGM4pdbWaXrM4Vqd83wN1sjPTqoRyT/6dJrluK836Llwaaxrw3ijdGP17/ViDvlwQX527sxs+bkOxc7vlodtmu6TfSWVzWnlVtjx81zcR5gdtJyDz5FqCyR9erF2qE32tJ+mlTdtKbv/lfI6VHX08Qf5tWPRVm/uNWxvRfAb7ficLgCAptrrULdc9vC+vtyhXalhZ95wSQCg2daK22jKOmIH6uiPlynHcyTDds6LeaGLiZ6O17aQTlqsuHCkjS5cMsGyj2UO10o7AXytxhyN7fnE4fhMtkp7VvsedXwuwvzW52N70BBvoz8M5xddlflQB8q8xQllQJFOjiHL/TEr53ZXWrabFJ9X778vwTllWal7oVQTI3CypK/y/U7cYw63sbxpS9ntsshBnk5evYfCWQMfIudpqzeXpWxvkfyMcbpGAABNNVfsg2KyTvlOe1/fYPl9OOPkHJcFAJrtgmNnzPkKj0ljqt2wHE+W4fqmBW5GPB73Y8k+KumM/IzD5dqx8EbK+SoZpR0G9yPbeyrFRzpdlWo6jH24Lu4dlUmjjzX//2rYOdnYRpFqR/q4DpR5SR9nDhfYnqkD6k6B7R4wbPdzwu+14yfsBNyTY3+madJ7PeT7sKGMfCX+OuiaXN60oeze5ljOzc+wzT2RRqr+b7Tj+4FlP0mjQDW+WDh9/CivcQDQWOMs7xdFR+rHt3PK8NuJkbqDD1wA0GA6wsJ15Nitko9FGyN/xRpYPjoXZ1u2tdvjOdg6euJT1U9Lvunnux2v2f6c57Fdfo358kiKd1LquZtW+L3XsGdDR8F9kfydldEOEe10b0NMS1sMvRUdKfeSVunWezNvR9lxQ57NK+l6xMvAqZGGwM2c+zONQHxSMM/HS3os5Pvib7p308ubNpTdU8QtHIx2its+GOrHt/hCXfG6zlbOxuvNxZGG5mUBADTZKYf6pMhaAfH66rXht+fk58feAS4NADTX4YydLps8739m0DjWCirLVNssnXq7xN/IzKyVZVqsuj/l10Uy/snRCH/qmFc6YtZ1KsUy+XU15HAhg2EPebPEcpx7Gvh8aIP4gxTvrAyTxgxc1+DywPQyealD5d55jy/KkyR9Bcui0+RNHz60vJwVlAUaXzQcNa4jE4uMFDSNCs87+kDzKG3U3PGSGgtNLW/aUnafF/fR4xrfdHZCvZ60aELSh8Hvln0cDfJtQlCHhu8K2vE9TgAATWULYVNkyrfpXSkptEv0Y+xJLg0ANJdtpc20pA3OXcHfTzI0MoeCRtLioKJaFzRStPGl0yG/5tz/p4wN2+uWjiOfPuc4n7xfEWcaOkiSRotppbw61nAdChq4+xIazz8k/yIgSQ5JdR3GPl+wXou/jsro6u9NXPhhY0kvkU1jWuE66z2fNuqxaEzfyTnuq48enqMZkt45r52hWUedzk15ht4Gz1dZmlzetKHs1unjXzyXe9tS9vUjx7Zuy9goXQBAM00Wt4/9GwruJ+kdQzsvdYbBYFB3xgfmzObyAEDz6IqrZ0vofKkqHc9wrtqhaRqt8Y/nvL2a8VxuSbEVoxdmaPBmSU8k20IcLh4Z9vdvw54R7ZSLLvCg95COGtKYbBqE+7GHPP4k6YtE1CXty/fGjpWBL8VtBJftHrmd8venPRzjwhz30wJP+TPf0Lh4I26xCScE5Wu8E+p7kL/DJV/jppc3bSi713s6Ju1AN4WNyPqBTz92DgkAoMlcYr37WKg1a9vrCpcGAJpBG9zHgsog7yjGJqU5Gc59uWVbSz3n9YqMja1BD/ucYWmUZ0nagVPGSrgTLPs90qDnZV2sk0bzJGklbx1Zpl9r70i+EUFhp83KBp37RPGzum/TRcNMjAYdJfHQExrvUWNZRlfs1s4RHdl2IqUsfRd07vigZcM3x/voTcZy0YWO+L1redHXRYmi8Q8nB//ubMKxfwvyrYqRxG0pb9pQdm+UbGFZ4umG2Efhuk4z/xqUuQCAZtsubh9Yp3jY194MdZLWZzO5PADQDEPS/s7JMD3MeO5HLY2eMpwRe0yvbSXsd7O4raqX1FmmnVEaf66swNIbLMewqAHPiY7wuiC/Ty90ifc3MbimD3Lkv96HsxpSVgyX9BLZJNFz3B2753W66xb5NX6sS3oVvCj7noq602Hf56Tc1avX5ryvwynII8GzMVzhNW5DedOWslvNkeR4k7YF71w/BLpMhb8oYx27AIBm0zLd5UPrX572NyND3bSHywMA6Gcbg84OrajDEVs3go6RCSXvW6d/HpCxEbRvI8cQHsfT4L9pvBYdHTbI5fpfrJr4dODzObelnY4aniDL6OX7DcmHeNza9R281suDZ8EW9mFucB0fBdcyfIb0n3Xq8OXghXdeycerz6jGwfwS2b/eL0ek2hhL2hDQDseLQdn2OZInYdnyMMgXLVu084zpud0qu+cF+74Zu/7hM6ELbm2XfB2KWm5eiNzn+r8aGmWf0EEJAG2hH82eOLz3+p6tc0HcZrIBAAC0gsaJjI/mOedhu9ohfUjcp+8ubUBenJRfRzABAAAALmwL2ZU1W0dnljwXc+xxAACAVtBOynhH4ojnfUwTt2mT52rOC33JC0eBvpFypxMDAAAAvugAAZ0J817GRubru6zGzJ5L1gAAgLZIioumMd/+KGl/x8XcUfm05vy4JM2N4QcAAAAAAAB0lsb5i3cWni55nxclvaPyW415sTlyHAe5NQAAAAAAAIBqaDzIpM7CVSXvV6dTj0r6Cr510AVZwinfI9waAAAAAAAAQHV0Re+kzsIqVim+krLvrzXkw7D8XO38g/gPbg4AAAAAAADAIG1lwCqcTtn34xry4Wqw7x/SjFXHAQAAAAAAgL4SX+m7yo7KMyn7Pl1xHuyN7HsXtwQAAAAAAABQvbQFbaqY+p3WUbmiwvNfGdnveW4HAAAAAAAAoB5pIypXVrDvpJW/31R47jN76VOwX135fJDbAQAAAAAAAKjHA0nuqDxYwb5fJex3S0XnrYvlvAn2qccxmVsBAAAAAAAAqM8hSe6ofFXyftck7PNuzm3pit0HeulGL12TsU7WSYbfa6dkuIiQrvA9g9sAAAAAAAAAqJd20ulK10mdlWUtLDNRfo5mDNNryTeqUTskk1Yu1w7IRQm/n95LL4Lf6LTvedwCAAAAAAAAQDMckeSOyq+9tNDzvrRj8aH83kk5Pef2jkv6gkAaf3O3jC0MpGmH/IxJ+UWSOzIBAAAAAAAA1GSgl25Lcmff515a7Wk/S+T3kZS63yLxIT9IekdlWtLOysVcdgAAAAAAAKB5dMXrC5LeuaexH/NOk9aRi9fl987C7R6Oe1SydVJqx+Z8LjcAAAAAAADQbOt66aWkd/Q97aVjwe8W9NK42N/r/9fp4ht66bT8vrL3Oxlb+GaCp+N9Ju6dlHrs07nEAAAAAAAAQDvoVPD1vXSzl75L9qnV8aSdk+d6aUWwbZ/2Oh7DJRlbHRwAAAAAAABAC+mUcI1RuV/GOvvu9tJHGVtoZzSSdHEanVZ9p5cu99JRGevsnFny8WnH5y1J76B8K2OjPwEAAAAAAACgdLqi930ZW+lb073g3w2RNQAAAAAAAAAAAAAAAAAAAAAAAAAAAAAAAAAAAAAAAAAAAAAAAAAAAAAAAAAAAAAAAAAAAAAAAAAAAAAAAAAAAAAAAAAAAAAAAAAAAAAAAAAAAAAAAAAAAAAAAAAAAAAAAAAAAAAAAAAA5LS8l/7rk3SNyw0AAAAAoK1PWx8AhReFFwAAAAAAtPVp6wOg8OJyAwAAAABo69PWB0DhReEFAAAAAABtfdr6ACi8uNwAAAAAANr6tPUBUHhReAEAAAAAQFuftj4ACi8uNwAAAACAtj5tfQDoJ/+RSCQSiUQikUgkEokUS6CtTyJRdoHCi0QikUgkEolEIpFINPZBW59Eouyi8CKRSCQSiUQikUgkEgm09Ukkyi5QeJFIJBKJRCKRSCQSicY+aOuTSJRdFF4kEolEIpFIJBKJRCKBtj6JRNkFCi8SiUQikUgkEolEItHYB219EomyCwAAAAAAAAAAAAAAAAAAAAAAAAAAAAAAAAAAAAAAAAAAAAAAAAAAAAAAAAAAAAAAAAAAAAAAGCzvpf/6JF3jcgMAAAAAaOvT1gdA4UXhBQAAAAAAbX3a+gAovLjcAAAAAADa+rT1AVB4UXgBAAAAAEBbn7Y+AAovLjcAAAAAgLY+bX0AFF4UXgAAAAAA0NanrQ+AwovLDQAAAACgrU9bH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E01QBYAAEA9CwAAAABVGuqlFb20q5cu9dLbXvpIIwoAAOpZAL88y6eCNI7s8G5zL93tpW+9NNpLI720kmwBAKC7tEE0u5fW9tK+XrrcSy976Ucv/RdLj8kuAACoZwH8vx2RZ3gn2eHNtKBM/C8lHSCLAADoBh25cbaXrvXSm5SGUlr6h+wDAIB6FsD/ex55hl+SHV5MDcpPW5m5haxCV6zK8LLQ5LSaSwkgB8odAACoZwEUtyThOV5FthSio9AfO5aZn3ppIlmGLpjeSyd76WIv3eqlr9LOjsoJXEoAOV+oNC3vpTW9tL+XXjiUOd97aZDsAwCAehbA/1xPeJZHyJZCDkq2fhGmgKOztPNyby99kHZ0Ur7jkgHw7Kql3LlLFgEAQD0L4P/7ENJCO8wme3Ln6ahk6xt5Tbah62bI2GpSrg+FPkRHZGx497DYV+nTFcF0JTAdDbkk+Lv1MhbL5kIv3Re3ODZXuFQAPFsjfK0EAIB6FoCLfwzP82myJ5dTkTzUfpHDvTRZxvpZFkv6lPD5ZB267oq4d1RuLGH/OuVDOy8fGPa7l8sEwLO/LOXdErIIAADqWQD/a7N/FHMoh8lkUyaTg3zT/PvSS0sTfqODw54n5DerraPzzot74NaybUrZNwF6Afh22VDe6UjzAbIIAADqWQCyzaG/YD/ZlMnfkbxbZvjd8oS8vkD2oZ9fIqLpcg0PbJjGcZkAePbeUN5dI3sAAKCeBfA/Txz6C94KHyCyeBrk2xGH376K5fVtsg9dNyL1TftOonEtowFlX3KJAHg221Le7SaLAACgngXwv1iJrqHiNpFdmcrINzLW/2FzRqqf7QrUynWVqUkVHtP1yH4vcYkAeLbTUt7NJYsAAKCeBeA8A1PTE7LLyZ4gv3Y4/j4e8/cbWYgum+ZY4Dyu+LguCIFiAZTnutQbjxcAAOpZAG3oL/gh7h2VmhaSbVa3g7JwyPH3K+X3xYuAzlrvWNgcrvi4zkX2vZzLBMAjjZ1jGkl+mSzqlKVBg5nVZQGAehZANgclWyelpitkm9VGSV7lO80koaMSfeSsY2GzqOLjCkdU6tebQS4TAI+WWsq7rWRRZ0zvpc/Bdd1OdgAA9SwAZ/rR4YP8vmCOre9A2/AzyD6vBmN5PEqWoMteORQ0X2s4rivBvp9yiQB4dshS5v1BFnXm5fpB5Lr+SZYAAPUsAGeb5fcOyMXiNhX8H7LPO2JUoi/MErfRlHVMz7gR7PsilwmAZ/cN5d1rsqczoqsjfiA7AIB6FkAmj2PP79Xg31936EPQGS3jyEKvovn7hexAV9lW4wvTphqO7YUwNQSAf+PF/BX4AlnUCXu5rgBAPQsgt/kJz28YU9EW3iFMO8hGr+ioRF9w+RKiaWpNx6dfYIhPCcCntZbybgNZ1Ho7uK4AQD0LoJDzsWc3HpLtuUM/wguy0ato3n4kO9BFGrvru0Ph8i9ZBaBDTlnKvElkUavt4boCAPUsgEImJ/QVxEdH7hC3QU8ryU4vBmL5+pwsQRctdyxYjpJVADrkhaG8e0b2tNrxlOv6hKwBAOpZAM4Oyu+L68bjTY4P/r2tP+E22enFuFi+3iRL0EVHxK2jcjlZBaAjplrKu5NkUStNDF7WWHUSAKhnARSjI/fexp7d4ym/PeHYpzCbbC1sQixPr5Ml6KLHDgXKt6Cg8mGajMW5WEbWA6jJX5Yyby1Z1DqLZGwFWdN1XUE2AQD1LAAnGxKe3Zkpv50tbh2Vp8nWwhbE8vQKWYKumexYoFz2uM+jwsgWAPW6bCjvdIXScWRRawxL+lTvaNL4SgNkFwBQzwJwcl+yTd2+6/g+RnzaYlbG8vQiWYKu2SBuHZXbPDYov0h9U8n1C9A6GessvRYcy3DGbczppcO9NBL8vRa2OuL0QS8daGDBqyNYN8rYKFatXD710mjkuHU4/9Ve2iljHddlGgoK1i29dK6X7vTS5wx/P1fGvsK9DY7/fS8dk7HpnmXR1eZX99KhIJ90lbuvkTwcDfL0TpDHm3tpegXXVb9a6miEvUHl9CA4ljuey4fHwXnqOeu0gnkdKfs+GMq7Bw04Pv1Sur2XLsjYVOaPwfP6PWjg6fV4FjQEd/XSHzUco07r2xrcf4+D8nA0OL5vwb87H9xHpmf0UJDvUzLuX8urfUHeuNRjNzpWf2vZvqqXNgXloN4L94LrsNXh7xfKWNypa0FZGl47/d93wb/fJ+kjJ6jT2lmnNcHsoK48n1C+hXXq9aBs+JM6szV53LZ6tkllCdBE8yT7zJTVju9k+8jeQjbG8vMMWYKuuexYmEzztL/94n8qeVrjYVmk8TASvHwUeVHSF7lbDnn1IWgA1mly8DL+r+P1DdNocI2KGgg6WvSl/XjQ4E17Yb3rsL1JQcMi7bhfiN8OYj3+9cFL/PeMeRimh8H9N+DhXl4VvChrHjxxOKYNHvJgp2H7m1pe7s215N+Rmo5raVBefcx5z40E2yjbzKDu+JHh2H4Ex6cdY2uC49SX3aORsse1bDscdAb8yJlPaelQw+7TsB5bF5Tn2ml9I+jMsp37QsM2dTX01xnz5obU22FJndZ+s4Ln/XWOZ/OeuHf49XOdWVUet7merbssAdrkTOw5eOn4d28cnqm3wiyXvMbJ7wuV/U22oGs+OBQkvlbl05GLn8T/VHJ96VgbNICvOBaOWb7mDAYvVFkaxXqeU2q4nn8Elcr3hBfQjZGGj77I64ibLynHn/WrjMaGOxBc1+cZ8+qgZdtLHO9TH/FOBoJG/NuUjpZLwb02LvL7OUEHx2jKcb0KGimDGY5Df6tf8d/l7HD510M+fLF0Os1pcbm3S5oTx3AgaOC+TLl3DgedVUOR388P/v3nlOPXxvmEko53e0qj/21Qnv4ZefEcDMqGQ0HnWtF7drpjWZA3NSle2uEC5/EhZZtrU8o216QjxNZQp7WqTmsCzcvbCeenZcIpGeuInxIpN/Ra6oicpwn1zjbqzNryuM31bJ1lCdBWkxKelz2Of7vPsezdRDbnciohL/8iW9Al8xwLkROe9ncsss3Nnra5vmDD1LbqmE5tfJRz21XG4NTK5HhCY0o7OpbmfJHM8hJ5rcA1MC2qtDFDA7Fo/LnlKZ1F4ehI272yIuf5X0vYlr4o66jjO8F/1zRi6AxNSosL5MUch+2fa3HZd12aEcdwXfCMxo/hXVBG2o5DG54PJP0Dk++pagdS9qX5Od7yt8NiHsHv8vFqY4mdlP9JszrfZwaN5a1Bx8G5hE6FtHQ+Y95nTauo01pRpzXhHk4qa18EDSqX8i0pXzZTZ9aSx22tZ+suS4C2inc2annq+hF8srjNSHtENmeWNrV+HVmDLtnr+PLmo0JeGNvmVE/noNvV0UM6klJj8HzO8FJqG76uI4OKjN55VtF1XJ9ynFfFHn9ziuH4s6wepl/zVwbb033OCl50XxZoiG0S/x3PaU5YGv2uL9RXPHVUptHj0ClqLqOGzxe4p4Ydtv+xpeXegOXl6U4Fx6ChNNLCSFySbHFzJxqes2eSPQZvmlUp+9DRZlkWRDifsp1jHo7RNGX+hHTDHsk2MnRacI2iZe6F4DeTIs/E7GDb78VtxsDUEs+ROq14ndaE+zTeSagdRfsz1KezUvLkm7iHI+pyndmUPG5qPduUsgRo67tyvNzMOsr/rGM9t4DsdjbZ0DexiuxBl7iuylX0q+fMWOPnScnnpS9eNx3OzdQwXig/p6mHX153RBpn2niwjW4ZLfk8JwSdGkn7PpVhO2nH/8XDMU61vKzeSvk710DMRSu7YctzkHUFtXVSbkdlaFLwHNme3fEFrt09h+230TKpN7i3NpzSPqjszbnN5YbzueTphfVVyva3ZNzWUKzjzFeMOFs8tNUdqrtfWJ7LoUhd+C7WyLB1MOpL8DOHcquM6Y/Uae1vwE1KqVO1YZV1xKKpU/6fHMfVlTqzqXncpHq2DWUJ0GRrpPisk/mO9dxlstuZqX9jKdmDrhgUtyHZRVdJTfqaebiC8xtyOL+0F7oFsY6Ew5IcX3Ch1NdROcvQWD2VcVtlv1SbXt7/Tsn/b/LrAiEnxD669Uekge5CGyT3Ddt7LNniSqoZUk1HpZou5phYeTqR4g1y0+ihby0t+w5Z8mxRifs2jdwtGlvmSYkvL6ZOljwLfiSFSVhZ8Bh3WcqGQemORw4dZVoWhR8I32bswJgj9unJWj/4XJmaOq14nVY3DSeUNHLxfXB9sxoRvzNWulBnNj2Pm1DPtqksAZoqXs/dz7mdxw7toB9B+Qyz7ZZ8HE8WoSvWOnaibM+wTZ3+NzfYtq46+Dxlm0sqOkfTC+lHwwtO2Hj4KuZROAOWvCvri6vm3ydJjxWXxbQKOqLuZHhZnRppXH+Pdd4sEvuKlVlctbyE5lnh1nZPLPN8L9jCN9wquH3tiLgg5Sw+UJf7Un3nq7483Dbs18fiBfs8Phtx5w3bzis+In1cwWM0xRQc6VDdbZtSuSN4bsMRsNqpmSdW6Q2H9wNfgdup08p5bqu0IuWdS//d/BzbmyTmzvK8H4LbXGe2JY/rqmfbWJYATTQ74Z5fn3NbWxz7G46Q7Uaz5NcPnkmJFdTRGSclf+zFIulrhY050wtYUlBzbcyFX6o/i/2Lr61T6kMJ57XSUFDliUe3wXD8vqbofzK86A3E8vOhmFfgPW043iwd4LavUkVG/ZYVAyvJkJhH5fyQfCPe4lYnXMdLLSz3xlvKhasl7FMbrg8M+zzqaT+rLPfezALb/reEF6O94m/0+YDlBe6gdIdtKpWubBtOC70v+WOUbnaozy96OB/qND91Wp10imBa53nekAu2hbPydhS1tc5sUx7XUc+2tSwBmiheL70t8K43KG7rPXySds0gqNKA2EOX8PEEnfJC6umorCoOhW1a9tqEl9f7kYfdpYEw1bKPdyW8hKW9qGpDP8+0H9OowpMejnnQsP341+3oqvBpsfp01FV8OoJ2fmcZ2aPX7YulsC/SUCmygFMehy373OqxMZp3tHVT2GKI+j6n4VhHRZkLCtgWc9hVYNumTsC8K+VGv9gXXfVxieXcuxS3Z5vhPHUWw8FIw3xCgf3Y6tAwPAZ1Wv11Wp1WGTqlinyEsS08VGTkY9vqzLblcdX1bFvLEqCJhhPe+Q6U3E6JzgjB74465N1HsgldMU3q6aT0OVXM5qCYp/XG45VFpza6rpplG8H03uP5LLJ0FuzNeR+Yvnr7GM1hWuRjT8rvXL62rw4aEzoVIWun4jHLdTtV4HwHpfovXra4mLc87Sc+griNq9GetuTVHM/7M0331i/Mkz3vz3RuV0rabpEFF8JYwEU/YO23PHNdmg5z2XCuYaf456BcKGKclDtDgjrNX51Wl8WGa/hvweduhuVaLuyTOrONeVx1PdvWsgRooj0Jbeai76rTxR73WtMLsv83S8Stf+UOWYWu2Cr1dVRW9QI+kqHBHs2P3Rn2sVOqWUxHXyY/GvaTN+7RyRK2GXdA7KuZ6tTYcGXatyXfI4NB4zrPIksu/hB7wOgymBZ3KLqSaVKj61VLyz7TSHLfoRpsjbU1JZyfaX9FFkYwNQK1bMo7vTiMK1k0NtFd8b9YVVN9cqhnN1ZwPxWp46jT2s90DbWem+thH/tS7rlNfVJntjWPq6xn21yWAE30Kna/X/C03euO/QTLuQT/T98l3jjm2zWyC11xxfGmd134Qzt/psjYCEOd0nFDkr+cPKro/GzxcaIvYHODl7I88bYuSvnTfMcHHQym/eQJov6nJY98VRRpHQjRkYVnxN/KvzYbpNyh86vFvlJuGWwxNzd42MesyPaOt7Dcs4Vq8Blz0zalrqwQGGWNfhuRcmK6nvBwfw6KeXGZ3dIdcx3q7VsV3U95yzPqtPYbEnPcWp/TYvXD4dmgfD4gxUcKt6XObGseV1nPtr0sAZpmpaR/gCtqqWPfw20uw/+7ZMmrt+I3ZjhQuwGxjyjzMV1OX9DexbZ5qKJzNMXH0ZePiZGXnPDLr77sZF119qklD328SJ4v4aVvyHLs5zxdh0HDy97VyAuy7692JudK7kDaLfWsBD+5go6xDQVf/utmWxzEV1iKmWKOgfolaMz5ZpuqW6ST3BYfJ+/onqXBvVlkZNBKy7H92aH6e49D3e0zJEMZIyqp09rvlJg/iLRhBGnT68y25nFV9WzbyxKgieLhinwPMHoubp2Vs7kU1sXOXsuvi1KeIcvQBa6xDny8pMWnlCyq6BzPGs7rXsLv9KUva6Dt8Q55uLrgeax36BzIs5LvBTEvjjDO03VYY9jPzuA34Qvhp4pevB9a8nRnwe3bRiuPlHhu9ywNm6Jx+sLYeE9bWvZdtlybaZ72c9+yn30lnd90KS8UhcvCKjqCfLiG62rqRO1acPFbUt3Un0GHa/6JOq32Oq1qy6Sc0dV1aGqd2eY8rqqebXtZAjTNrIR7frPnfexw7IM43efXYrrYw/wslV9DTO3jFkYXHHQsJHzEAFpXoEFTxEuxTwNcW/Bc14p99NJggXPQUZ/vxX9n8iFLR8MUj9fhhGFfOoIqGhu0qhWkbaOJVxXc/mfL9sucMm0bbVVk5eNobM89LS37THGsfMXctE0n1GkaQyWdn21k4deC23/hUG9creG6PpLqp9jXYUDMU9yzhGtxMcnhemf58EKd1n5D8nv8Mt+LLlSpiXVm2/O4inq2C2UJ0DTH5fcPvb4XIhwvbrM6tZyb0MfXwhZuKVz09aLnfhugdvfFraPSx9TEaGfepYrOb6blvP4IXvI+FGzInpRyV9866XCNsk4lOiLmhTZ8v4SldWx8Cl7iw9gaVQYmtzX0pxfYtkv8lTJXipxt2XeRBUs2t/zlYZ4lb856ajx9tOxnR4nnaIu/WrSRuFPc6o6DFV5XHcFpiiW2WbpjuSXf33je3wrxO/OCOq399luuX9umxTaxzmxzHldRz3alLAGaJKkDsayR2ycc3yX7dYTg32Kf8h3OXroa+ffruY3RdrZGXZieeNpftKNyY0XnuE3sK/WFD7bG0Mw7Ncs2umhvwZdn23V6mGF7OlXFtPDPdfE/ZXOapXEbjeW4rMJnwNZRWWQUrO3l+WUF52caiVEk1kz4gaOtMVBsI2fWedjHYbGPphwo8RyPSbnTgofk97jDZY7Id7FOyvvw0DRHSuxUSbJB/DUkqNPaTz/EfLFcw0UtPK8m1Zltz+Mq6tkulCVA08SnZP8o8f3J9oGoqnfmJprnUL5F3y+i4YBWcxuj7dY5Fg6+vqL8Jb8vYFO2q5bzija+VuTcx1SHPCyygMM1h+1vddyWflVOWxVRv57tLOk6bDUcu06Jex15CaySrRFQpBPHtu2dFZyfKT6rPod5RkNGR0nMaWnZd1PcFtgqsxG/t+RztJUbJzzsY7u41SE/CpSvWZgWnHgl3WKLr+v72Tws/uIwU6e1n22kX1uftybVmW3P47Lr2a6UJUDTxAfflB3GZ0Tc3iU39tE1GCf2QVDx2J2vPPRpAI1xzrFg8PXF9p9ge/crOj/biuYaf/CjFA/Uu8WSfx8KbNvlS9N3sQf0nhR0TKR9mdHG1IwSr4Wpw/hQ5MW16pXdbks5HZW2ANHPpZovg7bYqXlGNITB8e+2tNyzxfbzMYJ8n9Qfb8cW98fXtJCnjvWIdtyWveK26aXurHSHbTZEGQtcXRV7Z7TLCHTqtPYbkJ/hcuqIv9wPdWbb87iKerYrZQnQJEmLdy0teZ9rHN8jH/TRdTgl9vA+w4b3/sXcymg7l2l7XzzuL/zyeaCi8zOtaK7nfkl+j++Qh21VwwsFtn3a4RpdNPy9xuDUKaDfJH1KzJKSr4Opw/hj8MJaV0eCbXpsns7EwaACMTXoF1Z0foOWDo2sU7dnV/jiUhZbbD8fjb83Um9csVlSTdxhNd/xBTN8sSpr4YcpUv40w6awzYYoo461LQzmupAOdVr7uTQq2zqaoyl1ZtvzuIp6tgtlCdA08ZHQTyvY54DDe3OYFvTBNVjlkA8rE/4uWndN4FZGm7nGhPC5SurTiguZQ5YGs+lh99mA25Bzu0OGFyjTy6pOp9ki5qH0typ8ATN1GIcrNWrhWscX68Xif/qkbTRd1atkm+6DrC8gYef+oxaXfbbYfkXjutS9iJLaZtm/7xfPo+LeWTlS0jmbYihWGW6kCrYGuu9RfC7vCy7lGnVaN1wR+yi2NscSa0Kd2fY8Lrue7UpZAjTJDKl20ceo/eL2Dnmp49cgusBvlsEO42O/GcftjDbbJfXEg6hypTyXFc2Lxt1YIPbpcHkbyJsdjv9dpCGp8XPuSPpoAI1dcaiGxtMhh/Ooc1GWx4bj+itHJf9V6htJl+SAJe9dRxPPkW4EaX5oafwNFtz+GUt+v6/gHK9LNXGHo41G1yng/wUvpL6ZFkB4It1imuL+ooT97XG4ptOo0xpTp5XJNqW3zI8R/VJndiGPy65nu1KWAE3yj/wem7WqDq/JDuVe2Qv7NMFNsS8qlDRacp74WwwWqN11cWtQTmrp+bmsaP7dw0vJ35Z9PCr5GmmBZRou/zh4+Zpf47V45HAedcbxWmQ4rpsZtjNoeTk/V9P5LRE/IxtuRO4p6Wi54KPxZwupUXYHxqDDy14ZiyDpdPMv4r64ju94le8N+/unQ3W3bfG2IyXs855ln7ep0xpVp5VpmcO5t33Ke911ZtvzuIp6titlCdAUSYuAHqv4GM47vkMe7ug1cFmgMm0WaHy6ONBaLl9r294h4bKiuY8C+G5JhanrNYqm0aBBeSo4/ybEp5jgcNy3G3Ccuw3HN9dxG6ZYpQdqft5HDcd20GEb0SnyKzpcLhwsuH2X2JBrSz7HDTWW66sylFc+Rzna8r3NI4DjNlnO1Xf82+kO13K1YzlEndZ+fzuc/6YOvCPXWWe2PY/Lrme7UpYATZLUSfZHxcfgGvNcY0EPdSz/Z4o9nMV5w9+vFzoq0RHLpftfLGwrmutLTtFp6Lag60UWHHGJc6exMXcHHR+zpJnxijY4nEdTFmXZlnI9dUqQaeGRSZK+evi74Hmr2w0pFv4gXBziYcvLvrMl34t/iZ+Vkcu61pq2lrx/l2mxReP3Jj27ZU4zbBLTB5EPJezPNg3Wdao5dVr3778wrerAedZZZ7Y9j8uuZ7tSlgBNEg/fU9cHt8eO7487OpT3A5E6wxTKwvSBJR4OA2itY46FQJtftl9bzu2Uh33YVmX8VuDlaLd0IwaWbRj/y4Yd7zxJnr6tHQAa13VapFLR+KSHJXkxJe0c0emmww05r30FOjc2Rn67qOVl38uSnlfXBlrZHb0a4+eH5UWnigbbiGMd4yueomnhibsdq79NQdbPl/DybFuJ03VkF3VaNzx0uI5/dOA866wz257HZdezXSlLgKZICndR1+ypLY7vj886lP9HpPjHqYNCRyU64l+HB8LHy4QvOrxbR8y4jopxmX7pI37UCcs+rhTYtssX9XUtuNfeW87h74Yet1YItyTb1KKwAaMdlFMbdj4LLcc9wfDshR0VN1pe7k2z5IGP87ONZjxf8jkelGasOK/3/yfHZ8bH6qqm2JgHpDvmVlwn2EYIZ1kBmTqtG1zi0HZhtdE668w253EV9WxXyhKgKa5Kcz64aVv/o3R/QFVoicN5urQd4jNJgVaa4vjwX2nQMZ/M2MjfIdWslvjMsp9tBbZ9T9ofrN/WqP4hbivF1kFjroWrxmuj41IvXQv++Vtw7KNBZaov3kdlLAB+U6cX2WJupcWYOxi5VnOk3WxfaXd72MdLqW/atb7cmUbbvZVqY/q4rMrqI1bwAsv22z4KOGqXpTz1HXfNVscto05rTZ3myw+H69gFddaZbc7jKurZLpQlQFNMTyhz9tR8TC4jDLsQD3qC2Get6MdRl4WNLwkdleiAjY4P//aGHG90erVrrL9rlnPb4uG4pjrk4fQC2//ssP2mx13bYzn+Ow08Zu30iK7oekq6E9/ONNpvb8LvtcEdBnbuwjQq2ygMHyt/fpX6FnXZKf7iQS4M8qvowiwuUxjvl1jONGlmgA+mlW4feN6XbdGeS9RprajTfOuXjso668w253EV9WwXyhKgKQ7L7wtP1b3Y1HTHcrDtHyUuOZzfmpzvh0AnG+tNevB1Baxw+uBrx7+xfQXX/+ZjyoxtSlzRYfOjHWgM3LYc/+aGHW/8C961jj37+w3X4rKhAtXOt6kdOH/TVORPnvZhW4l0bknnpiMl33nsQAkXp9lf8LgWOZRjXwvu46Zh2116hm0r3fpc/E7ryLdiDnExKeM2qdO6oQvXsel1ZpvzuIp6tp/uQaBMSTNxTjfk2K479lecbGneuyzMl+WD8C3KQHSBS9yHtw04zvHy6wpkrnHGlonfUSBpbB2+RQvOto9aGLQ0qr9Lc2Is6bEmjZyY17Fn3/RsvIr9NhozZX8Hzn2e5Vm67Nh5Y1NXXDFTbEqNdzYj4/bCRYF8hAB5JPbpsnnZOu92duj5ta106zPw/ZES9kWd1g39NJqtrjqzrXlcVT3bT6N6gTIlhWpoSpinpeLWUamj2Ce0LN91xKgtjnvWD8JvctQRWmZfkLHZhEDtFjg+9BcbcKw3JF/cJ1sDa62n43tfcD9bxbyIRNu/GNtWRG/SSKfzffKiO2h5wR+KdP6EseleS7VxDctim7LpEk9WwwBobKzJht98q+GZ1U5I05TzPKO8wvAZPj5a2aakj5bUkWB74dYXW/0CvaIl9/AhMXeS+ZriPs9STuQduUmd1g13Ha7jn9SZfZnHVdWzjKgE/HgifkPx+PbCsd9iX8vyfcThnLL2V8Q/cE10+JvTwW//4FFAE/zt+MD/VfNxno0dz80Mf/vI0pjz8RV62JJ/tv2EjWstVMY5FjhJaUpJ+T9J3GNipDnZ8HsstNxwjIs7WAaYYgauSGhsrOnIedtWcJ9p+fvVwe/+tfzOFhS7DHcM+zvn4eV1esHj+1PsgcLzMnXefbD8bTitaH5L7mHTAhK+GhfjLA2DWwW2TZ3WDRelnhWXh4P667hUO3K1jjqzrXlcVT3b9rIEaIJFFZUrRewUt34LffduSzzyvQ7ncznHduMDJWzremh5/zXIO6AR7jo+8DNrPMZTkj+Q7ASpZiXz1Zb93DX8rY5+Cqffm74u36zpRVVHIL0Otr+0wHZMjd0mTZG7YenoWNWxMuCUmKfJ6sv9F+nGanoh25RNWyU9JbgXXFZxtS3k5ZtpFeiHBZ6z6IiVbQWPcUDKG4lm6rwzhfkIP9odack9PCTmkV3HPO3nrGEfT4IX27yo07phi8N1POF5n8ORZ32kD+rMNuZxlfVs28sSoAniH0TeSvM6+8LONJe+iw0tyPO5Yg9dkScGePy93SU/wvfgczwKaEpj3SWuy5caC6OrCcfzLkPBaQtM62vEg216ywHDOYbTg2ydpsccrpXvwmVN5IV7RPKPPp1mOe7rDXouvjnks45W2ijdiLu1XswhHy5EGt4zO1L2Lbdc3wuWv78j7nFyD1r25XMa/QJDw1AbU5MLdIr5GkUXKmPKjq1OSyvvVwX//bm0J6zB2goa5abOkRcF7ifqtG75w+E6vva4P52+9iCy3UkVn28ddWYb87jKerbNZQnQBFMS3p8ONPRYT4lbR+WDhue5bcZK0fe5+HZOWcr8MEYmI8TRioZOnXGW9Mvky5TjyTLi5byYF2yY6Ol4bQvppMU8C78CaxB2W+DfZQ7XSl+Mfa3GHI3t+USKBSbeKu1ZGXXU8bkI81ufj+3S3hhcpgZQdNXoQx0q+2xxa00fMMJVX12n1i607GuJp3OaLOmrfL8T95i+SRYnlJ1Fpn8PWfJkVs7trrRsNykP/gwam3pOc1t0D9umHc8ouP1lkt7p/UL8TKOkTuuORw7X0sdshCnyMwyFNqrqWOShrjqzbXlcZT3b5rIEaIKDCc/L5IYe6+wM7bQmh/Jx6XAtMvMz3vFs+ph1Tn6GoBvgcUATXHB8yM9XeExaoNywHE+WAK+mBW58Thd6LNlHTZ2Rn6uTuTaQ30g5cSyipgUvh+H2nnqorK5KNR3GPlzPUAEmjT6+HLyAT2xRWWAbRaod6V2axmgLWp32YrMq0njL0lFn+mK618P5DBvKoFceGmdJH7UOF9ieqVF5p8B2Dxi2+znh91MjHQt7WnYPP5NyFiNSCyQ95puOUPA5go06rRv+criOOmK5yKizhZHnVeusJTWebx11ZtvyuOp6tq1lCVA37Zj6UGPbP497ju2yiw09/pUOx553yrepnkr6iBr98HqSxwFNMEHcR47dKvlYBoMXsPsOx5Klc9H2xWV3hS+t8a8TpyXf9PPdjtdsf87z2B5roD7y8BKm526KJ3KvYc+Gjub6Ivk7K6ON1RvSjpiWtvhOKzpW/n3N+LyqRZG/W5lxf6bRV08Knst4SY81fN9TIyopeLnmRd4O0OOG/JhX0n0crzv02MMO5Jstu3+nWO7fIiuzL5af03+Spmr6nhpPndYdzxyu49mc294vP0eHjDagTqqrzmxTHlddz7axLAGaIOkjyIKGH/O6DG2xKQ07di03Pkj5MTZfJ2zzW1CWad+LDnI4HPvvs3kc0ASHM3a6bPK8/5lB4/2KZJtqm6VTb5f4G5lpY4v1GcZc+1N+/Qr0T44G0lPHvNJGpeuXmGXy66q+/wWdbMMe8maJ5TibOJJpsWMl4pqeS/NWzosyTT+41MHyz/a8xhtQ2mD6UvB+NY26zhsPRp/vBynbPC7+pm+khdC4kvOY0zrCik6VNH0w0npmVpAnGmMuHG2vI5/aNvrNFnv5aYHGymhK3m0t6Vyo07pjvrjFPddyw3Wq7Nqg/ozOWljWx3Vmm/K46nq2jWUJ0ATx98hHLThmfd7fOD7vTQtd5TJzz0fYvasZ26pXeBTQBKtydrZoQbYr+PtJhkbwUFCBLw5ePLSDZnfwYqDT+r7m3P+njA3v65aOI58+5zifvAXCTENDP2nUkw7jXh17qRoKXr72JbzY/ZD8i1kkOSTVdRj7ovfta/HXURld/X16A893o5Qz7aCpbCOgDwZlzQz5NRZgkZWUZ0h657d2mmUdnTg35R59K9lHotiYVi7PWlbcLOmlbHKO5/FjQ8sfm0tiH0GQZaSPdmicS9mWdrCX/YWdOq07tjpeRy0L9YO5dvoOxp5jvbZHEsq3N9KcOLJ11pltyeM66tm2lSVA3eaX0NZpWvoozVkocbtjf4ePUaB7M+TRqHRnwVS0lA7jPtviguZ4hnPVl5/vhm394zlvs361uCXF4wh9KiGPn5TQEDAFgP+3Yc+INjCiCyN9D16mtSL/W+yxSF073Jc17LzTYqVs7GhZ+DDHdTvmYb/zDZ2Vb8Qt6PeEoPyKj1bRe/WolDPK46Ulb46K/SOSPlu3U/7+tIdjXJjjOVzQ0vv3vcP53XCoY/TFfVfK9t4HL9RVoU7rju0lXMfr0qxptnXXmW3I47rq2TaVJUDdzvVBR6WmbQ3Ia+0I/CZ+Z4+azMiQP3t4FFC1gaDS15EqXztQyGRZeXC5ZVtLPef1igzncaFgJ2W0AHrkKW+1I6KMVUonWPZ7pEHPy7pYJ5LmSdJK3lODRsIdcZuClbb65MoGnfvElEZLV+2TbF8ZfXbY6Ijau2Ieab021mCcHPy7swkvOfr/T0i5I3VHY/nxWX6fIqzxHjWW5axYR9jq4PiS6iBdtGG9p2McdHwBDDuF57T03s2y2qV2mm2Qn1NA9Z3gj6Cs08ZJUixeLQM1hlsd0xqp07pD37F8zEp4K838YNaEOrPpeVxnPduGsgSo22QxD+rpUnpac17r+9cTcftg5JPLwskXeBRQh6EOFTAPM577UTFP9yjDGbGvCF3GF53NYl5V2NRZpgXiGvEXyy7OFkttUQOek+GEgvy2uMWtmxhc0wc58v9rrFOn7jwoY9pBk8tGl9Eed6S8aa9rc9434fSzkeDeG67w3tgdKyt0BdQt4r76YnRFXJ2SMt7zse502Pc5afeKzLZzPJrjevwIyryNJdYF1Gn9+Q6qozTe5LiWz4J7fbCh59aUOrPJedyEerbJZQlQt/3SH52UZQ1SyuKQVDflO95OfW55ZwTQJzYGjUQd2ROOPLoRNPAnlLxvncZ4QMZG0L6NHEN4HE+D/6Yxi1Y3uAFQJX05jk9rPZ9zW9rpqOEJsoxevt+QfIjHrV3fB9deG1HhdP7wWdGPCTraUUdFVTXFS0d+aIfjxaDs+Bx5bsNnVxt7l4Nnd41UG2tneXActnAZc4P7/1HwDITHr//8b3D82qCeV/Lxatl2M7iW4f7vB9e0C6sZ2sKMTIyUR/uCMv9D5B7/FnRq6L/XGRc6unJcQ8+VOq07FgbX8mpQ56aVEfqu1IbRzk2sM5uYx02pZylLAPSrCcH7+fugzNN3wLNCKAsAaCyNExmPY3TOU4VwSNynoS5tQF5EA9lf5NYAGmnAUq48I4sA6kwAAAAA7bMsocE/4nkf04JtukxFrZOOwApHgb6Rdk+LBbpsiaUsOUMWAdSZAAAAANpFV12Lj6TUeER/lLS/49LsAM+XhPhqQBscsJQl68gigDoTAAAAQLvcT2jgny55nxclvXPhW415sTlyHAe5NYBGs43QZmQXQJ0JAAAAoEWWpjTwV5W8X+1AGJX01SXroAuLhNPXRrg1gEbTxR1+SHNHZgNdR50JAAAAwLvzKY38KlZRvpKy76815MOw/FztXFcEnsKtATTaGjGPpjxFFgHUmQAAAADa5XlKI78Kp1P2/biGfLga7FtHaC3ltgAa74QQnxKoC3UmAAAAgFJ8k/o6Ks+k7Pt0xXmwN7LvXdwSQCs8lfROSu08mUAWAdSZAAAAANolraFfxdTvtI7KFRWe/8rIfs9zOwCtMFHMoymfkEUAdSYAAACA9kkbUbmygn0nrfz9psJzn9lLn4L96srng9wOQCusF3NH5QmyCKDOBAAAANA+D1Ia+gcr2PerhP1uqei8NfD/m2CfehyTuRWA1khbBCxMa8kigDoTAAAAQPscSmnovyp5v0kr9t7NuS1dffRAL93opWsy1sk6yfB7bWCFiwjpaqUzuA2AVnkt5o7KYbIIoM4EAAAA0D7a4PiR0tgvK0i+xpd7E9vXa8k3QmOSJK9cro2pRQm/n95LL4Lf6BS2edwCQKvMEnMn5VOyCKDOBAAAANBeR1Ia/F97aWEJjaSH8nsn5fSc2zsu6R0WGn9zt4wtDKRph/yMr/UlpVEGoNn2ibmj8gJZBFBnAgAAAGivgV66ndJw+dxLqz3tZ4n8PpJS91sk1tUHMXdaJCVteC3msgOt9MLyfG8jiwDqTAAAAADtpqt3XjA0VDSOVd4pXzoK43pCw2e7h+Mezdjg0kbafC430ErbHZ7xXWQTQJ0JAAAAoBvW9dJLMcd/Oxb8bkEvjYv9vf5/nS6+oZdOy+8re7+TsSD+Ezwd77MMDS499ulcYqCVdGS3SyeLxt9jMR2AOhMAAABAR+hU8PW9dLOXvkv2aWLxpJ2T53ppRbBtn/Y6HsMlofMCaJM/ZaxzUkdR3s1R5mgsPv1gsqqXlvfSHLIUoM4EAAAA0G6DQWfB/qDhoh0GH2VsoZ3RSNJA+zpF7E4vXe6lozLW2Tmz5OPTjs9bhsbWWxkb/QmgXS5L8Y8kLLIDUGcCAAAAQOV0ddL7MrZqqaZ7wb8bImuAVtLYths8poVkKUCdCQBAm/0fY4cWk0QlLecAAAJSdEVYdE1hdGhNTAA8bWF0aCB4bWxucz0iaHR0cDovL3d3dy53My5vcmcvMTk5OC9NYXRoL01hdGhNTCI+PG1zdHlsZSBtYXRoc2l6ZT0iMTZweCI+PG1vPj08L21vPjxtZnJhYz48bXJvdz48bWk+RTwvbWk+PG1pPm48L21pPjxtaT5lPC9taT48bWk+cjwvbWk+PG1pPmc8L21pPjxtaT55PC9taT48bW8+JiN4QTA7PC9tbz48bWk+czwvbWk+PG1pPnQ8L21pPjxtaT5vPC9taT48bWk+cjwvbWk+PG1pPmU8L21pPjxtaT5kPC9taT48L21yb3c+PG1yb3c+PG1pPkU8L21pPjxtaT5uPC9taT48bWk+ZTwvbWk+PG1pPnI8L21pPjxtaT5nPC9taT48bWk+eTwvbWk+PG1vPiYjeEEwOzwvbW8+PG1pPmw8L21pPjxtaT5vPC9taT48bWk+czwvbWk+PG1pPnQ8L21pPjxtbz4mI3hBMDs8L21vPjxtaT5wPC9taT48bWk+ZTwvbWk+PG1pPnI8L21pPjxtbz4mI3hBMDs8L21vPjxtaT5jPC9taT48bWk+eTwvbWk+PG1pPmM8L21pPjxtaT5sPC9taT48bWk+ZTwvbWk+PC9tcm93PjwvbWZyYWM+PG1vPj08L21vPjxtZnJhYz48bWk+JiN4M0JCOzwvbWk+PG1yb3c+PG1vPiYjeDIyMDY7PC9tbz48bWk+JiN4M0JCOzwvbWk+PC9tcm93PjwvbWZyYWM+PC9tc3R5bGU+PC9tYXRoPi6IwRsAAAAASUVORK5CYII=\&quot;,\&quot;slideId\&quot;:262,\&quot;accessibleText\&quot;:\&quot;equals fraction numerator E n e r g y space s t o r e d over denominator E n e r g y space l o s t space p e r space c y c l e end fraction equals fraction numerator lambda over denominator increment lambda end fraction\&quot;,\&quot;imageHeight\&quot;:40},{\&quot;mathml\&quot;:\&quot;&lt;math style=\\\&quot;font-family:stix;font-size:16px;\\\&quot; xmlns=\\\&quot;http://www.w3.org/1998/Math/MathML\\\&quot;&gt;&lt;mn&gt;8&lt;/mn&gt;&lt;mo&gt;-&lt;/mo&gt;&lt;mn&gt;10&lt;/mn&gt;&lt;mo&gt;&amp;#xA0;&lt;/mo&gt;&lt;mi&gt;&amp;#x3BC;&lt;/mi&gt;&lt;mi&gt;m&lt;/mi&gt;&lt;/math&gt;\&quot;,\&quot;base64Image\&quot;:\&quot;iVBORw0KGgoAAAANSUhEUgAAAZwAAABZCAYAAAAKE5KKAAAACXBIWXMAAA7EAAAOxAGVKw4bAAAABGJhU0UAAABEsZUXFwAAEkRJREFUeNrtnQGEV8sXx4+stZJYycp6IitZSSR5kjzyl6ysJWslSSRJkkiSlSfyJMlakiTJspJkJZIkSSRrPc9akmStLCtZWYn//57X/P7d93u/OWfuvTP3N3f3+2E8r/rN3Dszd87MOWfOIQJg8dKelN+Tch1dAcDiojMp+5IynJT7SZlKynxSFpLyzfz3c1LeJGUkKaeSshXdBgKwMimDZv79NylfIn/e7qScSMpd8318Tn03X5PyyXxTfyRlV1KWYYjBUqQjKWeTMm4+7DzlfVLOm0UCgCKsMHPpc90ci1Hg8Hw/k5TJHN/MbFIuJmUNhhwsFUEzZHZgto+Cd5cTSXmSlJfmo5c+Il4kTqNrQQ6WJ+VcUuYscys2gXOmgVCs/xaemNPOgvDvvhoBixMPWLQctnwsLHxuJaU3KW3CDpTVbo+Ej+gVdm7AkTazSZlVNjOxCJz1gjZgxrxLR4PfbUrKZUH4vE3KOkwHsNg+7lHLhB/NISQ2J+VP4ePbiC4HFlrphw1whtxUUDEInN3CKf8h/XBw0GCh8tpSB5/udmBqgMUAn0xeWCb6iYL1PrHU+wm7NlBHS1JOZhA0sQic/qR8tzzb7Rwbv8dkV7H9hmkCqo5tgl/wJMxsJ50p8/dgacM2iuNJ+Uj5HFOaKXB6hed6XuCbmRDedQumDKgq5ywTe9xjG93CDvAKhmBJC5qjSflg5sJ3c9K+QT9sGi8jFzi/mlOHzamms0DdG8jutDOdlNWYPqBqsErLZqjs89zWdUs73wmqtaXKX2YOsLfWCcsiejNSgcPPKqn+znho43eh/seYPqBqDJNdV+zbFXOb8PFcxVAsSQbN6VeiI1KBMyY8DwuiNg9tsGpNcq8+gikEqkKLcLp5EqjNWeEDBUA7CcUicAaU5xn02NYloR32XFuF6QGqgGTsvBOozftCm10YEmDhQUQCh08uknMDq4g7Pba3Vnl3xJEDlUDaOd0I1Kakj9+LIQE5NiplC5yzyrM8DdDmc0XArccUAbEz0oQTzh9Cm/0YEhC5wGE19CflWY4GaPe40uYNTBEQO5LR836gNi8KbQ5gSEDkAucQ6Q4MnQHa7VLaZPfpDkwTUFWBMx+ozetCm/swJCBygfNCeY53Adv+oLR9HtMExMxDZQKHyGUjqfF2Y0hAxALnF4fTze2A7d9V2p7CNAExM6JM4BB3Y6S8Om0YEhCxwNHsKFwOBmz/iEP7SHgIouWCMnn58qdPvTAnpLKFtxnHcIDIBY6mEeCyPWD7vzm0/zumCoiVvSWrCCSDK/TPIGaBw1E3FpRn+E5hE6W1OnyvbzBVQKzwBP7mMIl9eY+9sdS/QPCwAXELnF8dvpPpEvrhs4PQQ/R1EC13HD4k9ljbFvA0hdMNiF3gHHP4Th6W0A9jDs+BC9QgWjaTW/h3jtmU1yDJmQ5toUCeYQhABQTOXWquh1qWDSLsOCBqRsg950jWbIOs07Yld3tFPxwJAIhd4Lxy+D4GS+iHSw7PcR/T5V/sTMouS9kcoL019CNWJWtvRpPyPin7M9bBqlH2TLxHP1SpbP5gRy5OZsm5otYWfEZem/vN+s93vBZMG1Om/jWhBoPtJ5/IPbuia8rpFmGhGCPomkF1BM6Cw3exv4R+OODwHB8rNK6cZG6Ppfi6l9dO4cIC8aLN5ga2c/Oldo6yP29px1VAtJnNyzzpXsS9OZ/5FOlp3FmrFczr0sXlMl04eq8UFp3/zhZw8BzWT1AhgbPc8Zsow3bS5/Acob3lfDIqvMdrT230K/3lmmhypRGEvFizinWC7Nc88l7K3WFOQ67rMG+EujP0BTu/TGaoP2j6i8MZhQ575fRYXqpRGA7OaYKLaaBqAmen4/dQRqSMPY7PsqEi4/pFeAdfqefvKMK53eMp11auOdR/Nmfdrie0wZz1B7UJns/xQCNG37fCTJJGUphfthXrJqigwOl1/A52lNAPMQm/omxS3qHHUzuS6uhthno48sqQKaw+u2fUWi7job3LTcovzD4odbeaZ81bf/BL+XmEzrw58TRyFV2H9RJUWODsd/wGyrBJrnR8lioEwj2unDx8bFA3Kv30R8H6243Q0iJ5t1h+z39e7+o+ajYvrBZl+/pTh/pttDX4/UszP7jt5aR7Pn4tYzKcKiARazuHHVgnwSIQOK6q5jJO8G2Oz3KwAmMq7bpfeWrjZAmnqINKG2PCbx/UnVQaGenX5RQILFAe130jByxCM69A88oByi9wrhKCcYLFIXCuOM75Mgz1rRSB3t0T8wFPHjXGcp48sqBdCj5p+V36ZPGUZFtSnnBG6btjnDajK2f9s2VOit0kG/Y0z4xtWCtBxQXODcf5XhYuzzIc+XhuKeHk0UJy6C5fl85vK+/SyIssHTh5RNmsrFLqv9XgN2kHgdcke5ppm5gHzZgc0wVOO4MEAAROmQIn9pTTJyi8/WY3lZOw7jllM+gPpP7+jkP9mtNKvfq0h/5pr9Fsi1qcwAvNmCBsvHpF+YXOM0KATgCBA4Gjj+dLT21cpvBehcuUU9TNun/PUQ1qnm33HNvQ3JnTqjJOEjhn/nyC3Fy+D1PzvS//BUvNLNEIGpUZI00BgMBZugJnGcnuxL7sN1Kyx6/kx+amxaJMRwJop5/3E/lU1OJh7r+v69faoWA6wwZ/pIR+coaPtlepscEtj9Dh3+0nAKojcK5D4HhlG4W333RQOfHmJJd5Vg2mHadqHmls285ye3/e8QR1KSUktmSoX7LRj5Q5MTj2T6McNux10Uk/4gblPe0gvA2oisAZqqDAGYp4LE8pi7QPzzEtnM0JT+8i3WFJOyUcTc3T9Rnq73Y8QW2nfDH9tir1HylrUvyHfuoC06eT+t3HYcrvxXYJ6yiogMA5UkGBE7OjjpSq25f9RouAv9FTO38JbZwx/6aLfqoQswbbPKhoi1gDxZc331Fjm5GGFk7nlzImxDHLy9nCZRQ57ZT5YdygYjao2MtiDh3UTIFzIKL+d72HE+vFTy1Vt49N6HKSVf6+7pVoUR+2mPetaYmuehactYR/w+b/Jyn73UcpisFUGRPC5tnhElE172nnAAQOBE7EAqfPsf+Xl9APrpGrYw1ts4PC22+Okh77MfS8+FR3gpjIqSqcVjYVu1KqyC0Z69buKQW/yzVMxf2w+Qj2PONCueDxiAuBA4Hjm92O/b++hH5Y7fgssQbvPEfh7TcTSt8c8vQukm2PL4NuMAt61hQC6bVUUqetSanSzuaoX4s83htyIthONnljGmUNhT1ewmSHwIHAyUO7Y///p4R+cM1bFWvA3EfCM7/wUL9LNG1fdglJsPWnVGmnA6hyH9JP7+G8eYOuUPjLtw05JDTaXaDePRlVbIchcCBwIhQ4RG6JtnpK6Iceh+eINQGbdknSR/y3Z0rfvPP0LiuV/r9QcMPO3CU5V1BNO5T3ZC3dU3oWahLwTuhrQF3nFnK/MBraSAWBA4GTlz8d+r+/hH7Y5/AcHyIdQ+30UVQNuM2hb255epd+pf+/eNiwzwjqtCkqFp5HU82eacaH7CufdXcGoRNSLQGBA4GTlxGH/j9WQj+4pEq4F+kYSnm2fERufurQN32e3sUlYdrlAvWvd6j/fYE+0+4pBcnMvIHKC0m93VEtcZsAiE/guNgky7jd77JpuhDpGD4OqMLZQW6bsnZP7/JBaWfOqN1CbiyKeCLeUZ49CJeo3JAGZxw6cZYAiE/guNhORiLoh7JsSVnRXHCL2m9qWTclD1lfjkkbHMagaCSVUaX+iYL1zzRjHku3ZE8HanOcyvMiARA4vljhMG/fltAPb0h3GFge4fjtonCq9EOpnbnkqnzF07uccDjdFE03rjlb7Q0oMIPEutRS1YbywXbZKfYQAHEJHCL9fsdCCc+wEIHQy8MFku03eb3qVqR262xDmyxhXRmjsNlWNeeHyYL1H1fqXxNiAmiX2UJeHPvYDAkLIHAK4pJqOuT9l3UO7ccan1Ay6D8tUO/llLpsI4W/VKqpBr970NCco7DOKdK3FOw+pOZeuSvg5Bum5t7HARA4eXC5VNgXsH0Xl+gY8021kOwwlDee4ib6p1eV5Njh617JXqX/xwIL56+UPV5aGi0X0dVQk2CgiQJHc8lDSmoQo8Dhj3WWwrnCalxV2p6OdOx2B1hreCxqKs6ad+BECWuKlhup6IZDE85FPSE1b75gmq0Bap5KTdspHiIA4hM4zDXlOZ4HbFtL8X450rG7SP7tN7XTDBvoOZmZdm9lp6d3kby75qh4hIdeCpvuOZQtrfCLhQzcpoX17icA4hQ4WkrhUDGoVpB+j6070rGTXJWf5Khva6ovapHmz1H4NMlbKHzSO8nLzkcEiRcUVh1oRfOEOBmwbS3E+m9YX0GkAod524TNmqaGfhHpuPm23/Bm9T3929lAchd/4Oldzgc+fTBTFM6te7kyFiHXfDWQ3t2Aba+m8N4kAAInFAep/GgZ2vv3RTpuWgj8rK7KD8zv5pOy1vzZWsrv1dVpFnmXW/uSStOH/UxTCxZ1CNG0WtoJmQVuIdWklKXzU5Mm4XMCIG6Bw5u1j4oKx6dabZWyOZyMeNwuKeO2NkNd6XTIx1N/fkppY4OlvtaUEOl1GAOpDR/eXScDr8eSum7GcZM1V2Rua/F6tgeahNJN3eNYW0HkAofRskoe9djWaaWtgYjH7aXy7K438tMqxXq7j2Qj+ijUWfM4c1G5aU5WPswAUqy5mx7qlyKe3xF+tz214SlkX2+h5sTUseWs+EzFQ0KAxcnDyAQOn3LGSzh18DcqBYp8HfGY8U5Yc3RwsXvsTi14vMPuSP2dZpe4rWwY6uuzIUULn/U0ztIptqhdsEMZhyOW362ln5H+vQSn1XZqmz1Pwm5qQg4GUHkmIxM4ZL4NabHz4d4vnW6+UbyeaYx2SdIlNTLbeNLhfHoyttHo9JfOmupi++LNxXzg00cvhU3doF0abmSb4cjatXib7JTR5mtiSFnyJnw2RHa70TjFmaUQNB9tF9vMLJea3n1VgbrXkBzE8WTk4+YSCoiN7astvz9LeowyzUbU1WCTMEfZnDu0tN4+YrRJaSeeeKhfi+5Sb5dhb8BXqXnc6XNi8IC/p/AJnWy+8jwB1hEAjXHJDdJMd/pbJOeez6uyexZ4Vx2aN47jNmnUZstM2dPgt7Y7IpptL83GlHqIPdNc1feS4FzwtNGZprCR+59l6CdWv9Vc//lkFyQZ2zrlpR9SMfvKaUEV8isB0Biec+8cF64nTXxOKX/J9Rz1jZSwAWz2qdS1vBXWHi0R2h6jjmLTwefUmrM+w7tI6txRD33VrbzDJg9tfCXdk49POUdSQplVeSEzMP99hJcutb0zA5iFDuFj/OipM8HihOfO84yL0xA1TzV7TRES7Y7v/JjC3mYvg17yI2wmBZUbkWxol4SQK10UPrK9ZKfzlZAyq/BfyLHW54LtNVqQQBZKx8ju377MSMYhQbLyB7gKayqogxflHjN35nMuUqweHjRzsLXk5x9I7aQbLR5sl/jFomEYFH77haqVtuMaFRc2bxRh47JzL+rIIV3h+E5+UlZL6i5fnsKfMvQRz9OdZU+YzY67ywVzUnlkVBqzijR9G/qYBioF+/iza/4c6cnF8pYFUz+3s6+Ed2JNwW3SveqemaJld+RFp7Ni42pzGR93HLP75KbCH3Ks7xvlu68knTZ9pDzQVI++AhnfcuynV9TkjMtsMLrh8FFIZd58gDuxvoI6dlEYIWMrB0p8N9YADOf8dnjnzrafjRUcUykd96AijNmOfDDjiVhzTviT8l3v0OLA+TDma+7Kvhb/LmUe8obsFEXkKbzMCAx+qLvm9DNnPowFU+bNCeeRmVQcNWAHwd0ZLG1qKuaLZuc+Zb6V9HfzzvzdJfNvq/zN9JF836PFvOeMeX9eCO+Z3XweFSjXxy7iL1Pr0bQ5GfZh+v2fbjPHvpg+minY7wAA0HRsaq6g+VYAAAAsPWyZNx+hawAAAPiinRC6CgAAQAlIRvDt6B4AAAC+sMUE8xUCBgAAAPgbWxiYMXQNAAAAX0g5V86iewAAAPiin4olWgMAAACcsIVPgf0GAACAV6YI9hsAAACBWU+w3wAAACiBo4T7NwAAAErgKdmjXsN+AwAAwAsczsYWxv8eugcAAIAvJHXaEXQPAAAAX0gJ0NagewAAAPhgK4VNwQwAAAD8zRjFkc4bAADAImanIGz+QvcAAADwxfmk3LaUTeiepcn/AKgzCdXoFp23AAAAqHRFWHRNYXRoTUwAPG1hdGggeG1sbnM9Imh0dHA6Ly93d3cudzMub3JnLzE5OTgvTWF0aC9NYXRoTUwiPjxtc3R5bGUgbWF0aHNpemU9IjE2cHgiPjxtbj44PC9tbj48bW8+LTwvbW8+PG1uPjEwPC9tbj48bW8+JiN4QTA7PC9tbz48bWk+JiN4M0JDOzwvbWk+PG1pPm08L21pPjwvbXN0eWxlPjwvbWF0aD6Ue1BYAAAAAElFTkSuQmCC\&quot;,\&quot;slideId\&quot;:261,\&quot;accessibleText\&quot;:\&quot;8 minus 10 space mu m\&quot;,\&quot;imageHeight\&quot;:14.24},{\&quot;mathml\&quot;:\&quot;&lt;math style=\\\&quot;font-family:stix;font-size:16px;\\\&quot; xmlns=\\\&quot;http://www.w3.org/1998/Math/MathML\\\&quot;&gt;&lt;mn&gt;125&lt;/mn&gt;&lt;mo&gt;&amp;#xA0;&lt;/mo&gt;&lt;mi&gt;&amp;#x3BC;&lt;/mi&gt;&lt;mi&gt;m&lt;/mi&gt;&lt;/math&gt;\&quot;,\&quot;base64Image\&quot;:\&quot;iVBORw0KGgoAAAANSUhEUgAAATIAAABaCAYAAAA7FtpGAAAACXBIWXMAAA7EAAAOxAGVKw4bAAAABGJhU0UAAABFxpIngQAAD4JJREFUeNrtXQ9kV18UP2YmyZiZmUz8TCaZMZNMEpPMZCKZTDIyycxEJjPJyM8kMzFJkoxMJpORTDKJSSaZkcxPZiI/mZkZ/d61+357vd6759737r3v3fc9Hw6/fva9990/7/POOffccwAIhGQ46kkDTQOhFFHlyW1PJmkqnMZBT/6hdSSUGio9GfFkw5NfnvzM6XO2eNLvyVNP5j354cmmJ9uebPHn/+LJc0/GPOnypKKE1rHGk15P1vk6NtPWJpQCDngy7Mm/fOP/yiGRMe3iFtcwfiWQbU5sJ3M0pg8Jx6IiC7S9CUXHfk9uco0m6iXIA5FVcq1qW/PLnbWWcsoCiTG5RNucUFTs8+S6J9+RlyBrIjuZQgPDZIeb0VnhjQUSY6ZlGW13QtHA/ESDnqxJvghZEtllTjamX/YXnNhtotmSNnaLtjyhSCj3ZECBwLImsquWXnRf5vgc2cKUhTGxj0A9bX1CEcDMimspzLMsiOysZRLz5bGl8TVYGs80bX9CEQisz5PVwNf5rScPYNdxvpBTImvgfUY9y4ono7AbSlEb8v0wk/mIJ+c8Gffka8KX/7KFMU5YIrKT9BoQXMdnvpkXYTfeqibibx7mkMjeRzzDJ0/aE7TFXuR3ii8/O72tNjg+tg7bYNac/Aa7BzkEgvMY4RqKCLU5I7K+iP7HIf2pG2t3U4EMxgyO8Xaor8+0VQkEfZpb1kTG4tnCoSC3NbZ/HOJj5cLCSO+AoTGGA44pxotA0ICZnBDZUKjfKQN9nAL5cI5eA/1fD/WxChTjRSBowfMcEBl7mYOnql8NaUS+yZ3FiV94jEyu0fYjEIpDZOFwi9MG+6qAvZNcm+PuDbW/BqV1iZ1AKDyRBZ9hxkJ/g5JamU6iCfsih2jrEQjFITIWTe+HIzD/VaOFMdeAnK/slKb+OkPtshRDlbT1CITiEFkX2I+sZ3gvQWQdmvoKBx+P0rYjEIpFZHcDfTVaHLdMMLAOImuLaHeUt72Pth+BUAwi81PZzFke9xUJIjujoZ9ZpA927eoJ7B4GHKXtSCC4SWSPYDcl9WnL4z4vQWRpiaUR1K8YsaDdKU5sdbQ9CQQ3iCwrdAF+ZzFtsKqM+YoJS4XNAmkP0lYlEIjIVIks7R3IetCbFHKHm9+U0YJAICL7H+fAbG6yv8FchguW0YOqIhEIRGTQg4z7Qoq2WU3QDTCfb4xl6SinLawFTNNtjxETH406bhWwymXPYPda3kXFNtg1PnZoxa7TsWQELB6TJTz4xPfGoZTPWMbfA+azZbdhtngfK7z9OiKy7HEbxGXj0oRG3AB7WW3fQ7EPBdiBSUeMnNHURxUyxw9SksExT7pht0jyK8FHTpZ42N4ckfhYbnKyTPLMMnU92MFUGxFZthDlzH+asm22eVjYxUvYDYb1iwebIjOWSPFwQdfpGULiOnABmd9zku1UcoId5HtoCeT9pCuSfZwAtezHTIs6ojAXLN3VMuQnESkRGQJRHjZTDnV2d/MofzFGOdHpyha7XlAy+ykY811NfTwB8SFLlWQ7WynWb1yi/aGEbctqlCMJ279NRJYNDoA43MEmyrgfZhzUK1xFaWa1BVqnJmS8nZr6WdO0H+7Bbj2GCW5GTito4thY0oTyrEp8YKdTtP+RiCwbiE4suzJ8rjLef5rCvYtQnKtP1xBNSUd2kqPIfP6twf/2AemDaeVxhzbl8OftkGfcxCzjH67XEu2L/G3h3zN3yHne935EY/V9cURkGeCRYZ+LDrRKbNA4eVKQdRJpCe809TFgQeu7hPQxK/jtTEizinKu/5WQaBhRzYXe9Z4YMk5KlERkhlAu8Lu05vB5WdLJJKXtLhZgrTYMako+ZhNqSirAik0PSPjuXiO+OkxLj8LTwN+wa4INCdv/TkRmH3Ffx4c5fmam3t8H9TubVQ6vU4sFTSmYCy9K5jWN5TEylqhTxVvwe/0K0XW5aqT9RxG/GQlZItWID03U/gwRmX1E1blch5wcIUtoZz/BsdOkhOi34B87g8zfsKaxiHyeUY74bkU3AXbdLlypqzPkD8PqYxxH2r9FRGYXbWD29MsGmjjxylaJd7UugGhfLmjqYwyZvxMa+ihDtL6wJdAMeyedsgVwsLCJoMlYD3tlEZcktfZeC/NERKaAhYjxTTo4jsMKZNbj4PjKQBy2oMs/9hHEDnIdpfqakfUJnpJXwV5hnDcK/jnRO/w1NK++RaISqjNlYZ6IyCQRpX5/cFhjaQO5qPEpB8d2zIJ/rBbp47mmsVxETORgqIx/Qrmi6OrYkNT47gTIp0Wh/Z8u7K9SILL98OfJHztpOeT4uGTudG44OK5B5OXXcZKIXUvq1zQWUQxW8DChL/C+qdzQOCKp8QXdKion2q1I+1eIyOxhLOJlOAXFwCcJMmtwbEwvLPjHpsBsdmAfoqtwN/jfNARMadWAbFGM2ja3ONiH/AskO53HrkXVE5HZM8HCY+qF4qBTgsi6HBoP87eI7ize0aShixzwuuKiKpF1aeHjXeT/vqeZkF/wv/FDd5ZB/daHKCh7JU8bp8hEFnSe5uqoWDOwbAWXHBrLCQv+sT6w41cUXYVbD2k8SwlN5m/IurcHrJAWxbaxOLv7RGR2MAP68kq57Cu769BYblrwjy0h83VZ01gmQJyBuJEThWqqHR/1iFlZFzApk1S273BJ0y8qkQ3DnxdtiwqsWpNLBP5SMI63Gto/KWGK6/L7iAjzQsCkvJ6w/R7ErLwH6e4Q3wXzQclEZAp+oxdQfHwvAJFhwaM6birMI/v9iwX/2A7sXUFKc/n9KaKF+4kVk+apE8XZzedt8xSNyFrg97iXOSiNvPbPC0BkmLaUNrU1Fp8Wdy8xCUThHat8j+4kNCl9rAnMyhVId82qBpmnG0Rk5nAotLjMFNkHpYEHgjWccNQdoDsThUxapHOaxiKTCHEsRfuHJdr/mmLOsDi7ViIyM6iBPcemr7IfgNKBKAnhgCNjmDNoypwAuStdujKGrAKenaQyRfu9EmM5n6L9J8izAxGZflSF7Hn239VQWhA5frsdeH7sqD+tf8zP0irKRKErZXOjBMncTNnHM6T9pZTti9J/TxGR6QfTuoKXwZe5dgZEZP9LhwPP347sw9Mp2r4c0CREIRG6wlT6JbSxtNYCls7prEEivkhEphfs+PcV/O5ErYPSxGXBGrpQkOQW4h9LmmHhQEC7uAri4GFd6ZxmwWyeOOzQYtmgm+JXXt8xV4mMbezgnTwW4VwPpYs74LaPU+SIf52i3bGA2SgqNKIr2BYzkXc07NObyDt71SAnfMzrBnKVyIJ3zIpa0zHpfARl2oFnLwdxSqKRhO0Gy8m1gjgBoa64qLOQvNCIDtJnl8/TnNRjueDuEZHpw4OQv6EJCCsx69fnwLNjKafbE76QfmS9H0e3ZIAsw5gEs+EdGOmnjRnETnfPEJHpwVjo2Y5Z6pf5BXogJ9kwI54tzoxxwT82asA/NhL40FUDHnelq7q86LTvh4b9g+XnT5t22pSvkogsYnP6KrTNXOH+cXdLDtcwrjbjnCPapCgk4lWC9loDWkuPhF9JV7pmrPKTjsBk0anrqob23xo2i0ueyAZCX4bTFvs+D3pic0zhs2EtwyX/GAsy9bMBBw8JFsF8ObNhw9qSyIWgI3xkP7IWA0Rk6RAOLThrse+/YK/qTH8O1y/O1JgHN4ClilENifBTN7EU334q80OQ/JTvICcPmSj5d4I+vmmYK8w8Pm7YbMXuhQ5n+fHMO5GFk9PZjFIPXntiWmDeCt6WxWhjaS8j28QdZP+p1FUIpmW+Fvj/g0gfjTHtVQTICcu9hRXJ1XHaNwB4okZTZusa8ls/5fYPyCi9T56JrCOk6tosdNAEv9/dVLmWsZ+bEaZvGMQ5ZofAHSwg+082Av6CwK8m8sH9I2hzUsH07EbGoaNGhOgu6kMN7YvqP4gKBbfBXuzchaw20oucEhlb+GA8y6AF7aaBL8RMhK9AJgSgl78Ywd9t8Y+F7mtCccfksw6RWAXgJe1k/EpnAi8S0whqFfw+j2Pa7ItpLw6i3Pk6agBggbZps7Vi5fHilIhDsFdjNdN0Ucs5JLLjgN8lsylfFTUCUVS0jvQnwc0TrtPpUsaPsxJzhmmXnfB7sZJOxT66Yz6iKnFfZSBfW9KE/0pHiqPzoB6eUhVwbbDDlMxSZmFfK9/fYjN2pAn2nOt5EZnkdHMK7aUJvmTO56gUMUvg3mX5uxJz9U0wrnCpstsJfHDhUnnNgf33WMF6MF0wRZRv7pWG9u8jYwj7vSoD/sN1vi8zQ6/ki2erBmRDjKaRtcg4nP9VbPM1qAerHo+ZnzeQv4MIGSxKztUyNx/LuHRE/HY2oQ84iKOB+V1R0G5FhLylSREQVUu6rqH9eYV5qoW9tEgbkHGSRbZIXyQ30isLz3MQWaysRHbsHxK0zb78VyXXajRGe34AbqbylrEGZEVkUmMJDjv4/PUFPkaq1b5F7hkdRW+wauI6ruhtAn6yW8F9ZeuQTTxnpGPvjeJmmTBoYtYokKptkT2FGUrRxwr/fVNgjvdxk2Q8xl/4HdJlAM0aXZrWB8s/t52gTZWDmQYwn7vrOpgvJqz6UdmCjPLcVfEXYwJxTGJO7xHOwrpiRaoBrzOYlajcjStP8HFIIjvclKkCtzGuYS4WJfyCm4ptqta07EfWSsc6icw+XdlaVVw638Fi4CuL7VjjL+OWoZdqi7e/llA7YCTxPqckliSIkWlRk4aehWllY6AWIJpnxJUa+yg5H88lfVgTku0xzS1JsLXJOgMyJriuYsKPJOeJOfit5v1rt/zS9yR4xoock9gv7vxNgia+MbZT9r/Bv7jdUKySdgdAfKL7GMSnmJcULRHsUIEFgjYnGAd2T1SHEx4Li9BFKg0gDnliCssg5Dj7BcEcyrk5P8qdvh+4Q3krIJt8k7znWsYkJ64i51g7B+J4JTZvd7imv8VfsGmufVQkXAd2vWeBz/cWJ8Qp0Ff+rQg4wvfgTz5HaynnnUAoNCbAwXxXBAKBEETc4c5LmhoCgeACqgRm5Q2aHgKB4AJEzus2mh4CgeAC4u4M6rrKQyAQCMYRd51nlqaGQCC4AFHOqyGaHgKB4AJEOdtO0PQQCAQXEHcNhvxjBALBGcSVMiP/GIFAcAKiUmbkHyMQCE6gDyh+jEAgOI7XMSTGLnGTf4xAIOQe7FpSXLqbaZoeAoHgull5haaHQCC4AFFiwzqaHgKBkHe0gtlU0AQCgWAcs6A3PTqBQCBYxUkBiX2m6SEQCC5gGHYLiURJE01PaeI/38Gr+7Ld4GgAAACVdEVYdE1hdGhNTAA8bWF0aCB4bWxucz0iaHR0cDovL3d3dy53My5vcmcvMTk5OC9NYXRoL01hdGhNTCI+PG1zdHlsZSBtYXRoc2l6ZT0iMTZweCI+PG1uPjEyNTwvbW4+PG1vPiYjeEEwOzwvbW8+PG1pPiYjeDNCQzs8L21pPjxtaT5tPC9taT48L21zdHlsZT48L21hdGg+DoXthQAAAABJRU5ErkJggg==\&quot;,\&quot;slideId\&quot;:261,\&quot;accessibleText\&quot;:\&quot;125 space mu m\&quot;,\&quot;imageHeight\&quot;:14.4}]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MTSU PP 2020 SqRect Color Blocks</Template>
  <TotalTime>18078</TotalTime>
  <Words>463</Words>
  <Application>Microsoft Office PowerPoint</Application>
  <PresentationFormat>Widescreen</PresentationFormat>
  <Paragraphs>91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Middle Tennessee State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Darrell Callis Burks</dc:creator>
  <cp:lastModifiedBy>Jacob Juca</cp:lastModifiedBy>
  <cp:revision>7</cp:revision>
  <dcterms:created xsi:type="dcterms:W3CDTF">2025-12-10T17:04:30Z</dcterms:created>
  <dcterms:modified xsi:type="dcterms:W3CDTF">2026-09-28T20:04:29Z</dcterms:modified>
</cp:coreProperties>
</file>